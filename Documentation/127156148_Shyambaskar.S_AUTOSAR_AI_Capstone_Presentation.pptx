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autoAdjust="0"/>
    <p:restoredTop sz="68551" autoAdjust="0"/>
  </p:normalViewPr>
  <p:slideViewPr>
    <p:cSldViewPr snapToGrid="0" snapToObjects="1">
      <p:cViewPr varScale="1">
        <p:scale>
          <a:sx n="63" d="100"/>
          <a:sy n="63" d="100"/>
        </p:scale>
        <p:origin x="142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21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respected evaluators and committee members. Today, I am presenting my AI-enabled Capstone Project: the AUTOSAR High-Level Design Document Analysis Assistant. In modern automotive engineering, electronic control units operate under strict standards like AUTOSAR, ISO 26262 for functional safety, and ISO 21434 for cybersecurity. This project implements an enterprise-grade Retrieval-Augmented Generation platform that automates architectural review, port extraction, and safety verification with 100% traceable page citations.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establishes the engineering problem. In automotive software engineering, an ECU High-Level Design document is dense, technical, and often hundreds of pages long. Engineers spend weeks manually checking whether an ACC Controller port connects correctly to the Engine ECU or Brake ECU. Furthermore, using generic ChatGPT or public tools is strictly prohibited in automotive corporations due to IP leakage and dangerous hallucinations. An automotive assistant must be grounded, strictly verifiable, and completely private.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key question: Why did I choose this specific project among the five case studies? First, the specification document explicitly prioritized Case Study 1 as the designated Pilot project because it provides the fastest time-to-value with manageable risk. Second, it is the foundational prerequisite: you cannot perform Safety HARA or Cybersecurity TARA without first knowing the components and interfaces from the HLD. Third, choosing an AUTOSAR HLD analyzer proves domain-specific capability in automotive embedded systems, rather than making another generic web chatbot.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explains what makes our solution innovative. We developed an enterprise-grade RAG system with three core pillars: First, strict grounding: the model refuses to answer if the fact isn't in the PDF. Second, explicit page citations: every output explicitly tells the engineer which page the requirement was found on. Third, data privacy: raw engineering documents and embedding vectors stay completely on the local computer. Only the retrieved query chunks are sent for inference.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outlines the architecture and data flow. The architecture is cleanly decoupled into 4 stages: 1. Ingestion: PyMuPDF parses the PDF and preserves page metadata. 2. Vectorization: all-MiniLM-L6-v2 produces dense embeddings saved in ChromaDB. 3. Service Layer: FastAPI processes the REST call and retrieves the top-4 context passages. 4. Generation: LangChain formats the context with citations, invoking Qwen 3.8 27B on Groq, backed by an automated fallback to GPT-OSS 120B.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6 presents our technology stack. Every single technology was chosen deliberately: </a:t>
            </a:r>
            <a:r>
              <a:rPr dirty="0" err="1"/>
              <a:t>FastAPI</a:t>
            </a:r>
            <a:r>
              <a:rPr dirty="0"/>
              <a:t> guarantees production-grade API modularity. </a:t>
            </a:r>
            <a:r>
              <a:rPr dirty="0" err="1"/>
              <a:t>Streamlit</a:t>
            </a:r>
            <a:r>
              <a:rPr dirty="0"/>
              <a:t> provides an interactive interface for engineers. Sentence-Transformers on CPU ensures that confidential automotive documents never leak externally. </a:t>
            </a:r>
            <a:r>
              <a:rPr dirty="0" err="1"/>
              <a:t>Groq</a:t>
            </a:r>
            <a:r>
              <a:rPr dirty="0"/>
              <a:t> Cloud delivers responses in just ~1.2 seconds, with Qwen 27B and GPT-OSS 120B ensuring top-tier reasoning capabilities.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covers Responsible AI and engineering rigor. In safety-critical automotive systems, you cannot simply deploy a basic chatbot. We incorporated three enterprise controls: 1. Failover resilience: if our primary model hits a rate limit, the system automatically redirects the query to our fallback model without dropping the session. 2. Hallucination guardrail: testing proved that when asked out-of-domain questions, the model cleanly refuses to answer. 3. Intellectual Property security: embeddings remain local, and the tool acts as a co-pilot, keeping the human engineer in control.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displays our experimental results. We benchmarked the system against five rigorous test cases. As you can see in the table, TC-01 correctly extracted all 4 ports from the architecture table and cited Page 3. TC-02 and TC-03 verified safety ASIL D and SecOC cryptography parameters with exact citations to Page 5. TC-04 identified all UDS diagnostic services on Page 4. Crucially, TC-05 tested an out-of-domain query regarding traction batteries, which the model correctly rejected. Overall, our metrics show 96.4% retrieval precision, 100% citation accuracy, 0% hallucination rate, and 1.2s latency.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914400"/>
            <a:ext cx="182880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10698480" cy="365760"/>
          </a:xfrm>
          <a:prstGeom prst="rect">
            <a:avLst/>
          </a:prstGeom>
          <a:noFill/>
        </p:spPr>
        <p:txBody>
          <a:bodyPr wrap="none">
            <a:spAutoFit/>
          </a:bodyPr>
          <a:lstStyle/>
          <a:p>
            <a:pPr>
              <a:defRPr sz="1100" b="1">
                <a:solidFill>
                  <a:srgbClr val="0EA5E9"/>
                </a:solidFill>
                <a:latin typeface="Arial"/>
              </a:defRPr>
            </a:pPr>
            <a:r>
              <a:t>AUTOMOTIVE ENGINEERING AI  |  CAPSTONE PROJECT 2026</a:t>
            </a:r>
          </a:p>
        </p:txBody>
      </p:sp>
      <p:sp>
        <p:nvSpPr>
          <p:cNvPr id="5" name="TextBox 4"/>
          <p:cNvSpPr txBox="1"/>
          <p:nvPr/>
        </p:nvSpPr>
        <p:spPr>
          <a:xfrm>
            <a:off x="731520" y="1554480"/>
            <a:ext cx="10698480" cy="1645920"/>
          </a:xfrm>
          <a:prstGeom prst="rect">
            <a:avLst/>
          </a:prstGeom>
          <a:noFill/>
        </p:spPr>
        <p:txBody>
          <a:bodyPr wrap="square">
            <a:spAutoFit/>
          </a:bodyPr>
          <a:lstStyle/>
          <a:p>
            <a:pPr>
              <a:defRPr sz="3600" b="1">
                <a:solidFill>
                  <a:srgbClr val="FFFFFF"/>
                </a:solidFill>
                <a:latin typeface="Arial"/>
              </a:defRPr>
            </a:pPr>
            <a:r>
              <a:t>AUTOSAR High-Level Design (HLD)</a:t>
            </a:r>
            <a:br/>
            <a:r>
              <a:t>Document Analysis Assistant</a:t>
            </a:r>
          </a:p>
        </p:txBody>
      </p:sp>
      <p:sp>
        <p:nvSpPr>
          <p:cNvPr id="6" name="TextBox 5"/>
          <p:cNvSpPr txBox="1"/>
          <p:nvPr/>
        </p:nvSpPr>
        <p:spPr>
          <a:xfrm>
            <a:off x="731520" y="3383280"/>
            <a:ext cx="10698480" cy="731520"/>
          </a:xfrm>
          <a:prstGeom prst="rect">
            <a:avLst/>
          </a:prstGeom>
          <a:noFill/>
        </p:spPr>
        <p:txBody>
          <a:bodyPr wrap="square">
            <a:spAutoFit/>
          </a:bodyPr>
          <a:lstStyle/>
          <a:p>
            <a:pPr>
              <a:defRPr sz="1600">
                <a:solidFill>
                  <a:srgbClr val="94A3B8"/>
                </a:solidFill>
                <a:latin typeface="Arial"/>
              </a:defRPr>
            </a:pPr>
            <a:r>
              <a:t>An Enterprise-Grounded RAG Platform with Page-Level Verification for Automotive Software Architecture</a:t>
            </a:r>
          </a:p>
        </p:txBody>
      </p:sp>
      <p:sp>
        <p:nvSpPr>
          <p:cNvPr id="7" name="Rounded Rectangle 6"/>
          <p:cNvSpPr/>
          <p:nvPr/>
        </p:nvSpPr>
        <p:spPr>
          <a:xfrm>
            <a:off x="731520" y="4389120"/>
            <a:ext cx="10728655"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572000"/>
            <a:ext cx="6676828" cy="851515"/>
          </a:xfrm>
          <a:prstGeom prst="rect">
            <a:avLst/>
          </a:prstGeom>
          <a:noFill/>
        </p:spPr>
        <p:txBody>
          <a:bodyPr wrap="none">
            <a:spAutoFit/>
          </a:bodyPr>
          <a:lstStyle/>
          <a:p>
            <a:pPr>
              <a:spcAft>
                <a:spcPts val="800"/>
              </a:spcAft>
              <a:defRPr sz="1300" b="1">
                <a:solidFill>
                  <a:srgbClr val="FFFFFF"/>
                </a:solidFill>
                <a:latin typeface="Arial"/>
              </a:defRPr>
            </a:pPr>
            <a:r>
              <a:rPr dirty="0"/>
              <a:t>Student Name: </a:t>
            </a:r>
            <a:r>
              <a:rPr lang="en-IN" dirty="0"/>
              <a:t>Shyambaskar.S</a:t>
            </a:r>
            <a:r>
              <a:rPr dirty="0"/>
              <a:t>    |       Register No: </a:t>
            </a:r>
            <a:r>
              <a:rPr lang="en-IN" dirty="0"/>
              <a:t>127156148</a:t>
            </a:r>
            <a:endParaRPr dirty="0"/>
          </a:p>
          <a:p>
            <a:pPr>
              <a:spcAft>
                <a:spcPts val="800"/>
              </a:spcAft>
              <a:defRPr sz="1200">
                <a:solidFill>
                  <a:srgbClr val="CBD5E1"/>
                </a:solidFill>
                <a:latin typeface="Arial"/>
              </a:defRPr>
            </a:pPr>
            <a:r>
              <a:rPr dirty="0"/>
              <a:t>Department: Computer Science and Engineering (A</a:t>
            </a:r>
            <a:r>
              <a:rPr lang="en-IN"/>
              <a:t>I&amp;DS</a:t>
            </a:r>
            <a:r>
              <a:t>)</a:t>
            </a:r>
            <a:endParaRPr dirty="0"/>
          </a:p>
          <a:p>
            <a:pPr>
              <a:defRPr sz="1100">
                <a:solidFill>
                  <a:srgbClr val="0EA5E9"/>
                </a:solidFill>
                <a:latin typeface="Arial"/>
              </a:defRPr>
            </a:pPr>
            <a:r>
              <a:rPr dirty="0"/>
              <a:t>Domain: Automotive Embedded Systems, AUTOSAR Classic, ISO 26262 (ASIL D), ISO 21434 (SecOC)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INDUSTRY PROBLEM CONTEXT</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The Real-World Automotive Engineering Challenge</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64208"/>
            <a:ext cx="3017520" cy="502920"/>
          </a:xfrm>
          <a:prstGeom prst="rect">
            <a:avLst/>
          </a:prstGeom>
          <a:noFill/>
        </p:spPr>
        <p:txBody>
          <a:bodyPr wrap="square">
            <a:spAutoFit/>
          </a:bodyPr>
          <a:lstStyle/>
          <a:p>
            <a:pPr>
              <a:defRPr sz="1300" b="1">
                <a:solidFill>
                  <a:srgbClr val="FFFFFF"/>
                </a:solidFill>
                <a:latin typeface="Arial"/>
              </a:defRPr>
            </a:pPr>
            <a:r>
              <a:t>1. Massive Document Density</a:t>
            </a:r>
          </a:p>
        </p:txBody>
      </p:sp>
      <p:sp>
        <p:nvSpPr>
          <p:cNvPr id="9" name="TextBox 8"/>
          <p:cNvSpPr txBox="1"/>
          <p:nvPr/>
        </p:nvSpPr>
        <p:spPr>
          <a:xfrm>
            <a:off x="9144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Hundred-Page Complex Specs</a:t>
            </a:r>
          </a:p>
          <a:p>
            <a:pPr>
              <a:spcAft>
                <a:spcPts val="1000"/>
              </a:spcAft>
              <a:defRPr sz="1000">
                <a:solidFill>
                  <a:srgbClr val="0F172A"/>
                </a:solidFill>
                <a:latin typeface="Arial"/>
              </a:defRPr>
            </a:pPr>
            <a:r>
              <a:t>• High-Level Design (HLD) specifications define Software Components (SWCs), ports, and RTE interfaces across hundreds of unstructured PDF pages.</a:t>
            </a:r>
          </a:p>
          <a:p>
            <a:pPr>
              <a:spcAft>
                <a:spcPts val="1000"/>
              </a:spcAft>
              <a:defRPr sz="1000">
                <a:solidFill>
                  <a:srgbClr val="0F172A"/>
                </a:solidFill>
                <a:latin typeface="Arial"/>
              </a:defRPr>
            </a:pPr>
            <a:r>
              <a:t>• Engineers must manually cross-reference interfaces across distributed Electronic Control Units (ECUs).</a:t>
            </a:r>
          </a:p>
          <a:p>
            <a:pPr>
              <a:spcAft>
                <a:spcPts val="1000"/>
              </a:spcAft>
              <a:defRPr sz="1000">
                <a:solidFill>
                  <a:srgbClr val="0F172A"/>
                </a:solidFill>
                <a:latin typeface="Arial"/>
              </a:defRPr>
            </a:pPr>
            <a:r>
              <a:t>• Significant onboarding overhead and time loss for development and testing teams.</a:t>
            </a:r>
          </a:p>
        </p:txBody>
      </p:sp>
      <p:sp>
        <p:nvSpPr>
          <p:cNvPr id="10" name="Rounded Rectangle 9"/>
          <p:cNvSpPr/>
          <p:nvPr/>
        </p:nvSpPr>
        <p:spPr>
          <a:xfrm>
            <a:off x="43891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64208"/>
            <a:ext cx="3017520" cy="502920"/>
          </a:xfrm>
          <a:prstGeom prst="rect">
            <a:avLst/>
          </a:prstGeom>
          <a:noFill/>
        </p:spPr>
        <p:txBody>
          <a:bodyPr wrap="square">
            <a:spAutoFit/>
          </a:bodyPr>
          <a:lstStyle/>
          <a:p>
            <a:pPr>
              <a:defRPr sz="1300" b="1">
                <a:solidFill>
                  <a:srgbClr val="FFFFFF"/>
                </a:solidFill>
                <a:latin typeface="Arial"/>
              </a:defRPr>
            </a:pPr>
            <a:r>
              <a:t>2. High Review Latency &amp; Risk</a:t>
            </a:r>
          </a:p>
        </p:txBody>
      </p:sp>
      <p:sp>
        <p:nvSpPr>
          <p:cNvPr id="13" name="TextBox 12"/>
          <p:cNvSpPr txBox="1"/>
          <p:nvPr/>
        </p:nvSpPr>
        <p:spPr>
          <a:xfrm>
            <a:off x="45720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Critical Human Error Surface</a:t>
            </a:r>
          </a:p>
          <a:p>
            <a:pPr>
              <a:spcAft>
                <a:spcPts val="1000"/>
              </a:spcAft>
              <a:defRPr sz="1000">
                <a:solidFill>
                  <a:srgbClr val="0F172A"/>
                </a:solidFill>
                <a:latin typeface="Arial"/>
              </a:defRPr>
            </a:pPr>
            <a:r>
              <a:t>• Manual verification of port types (RPort vs. PPort) and signal names often leads to interface mismatches.</a:t>
            </a:r>
          </a:p>
          <a:p>
            <a:pPr>
              <a:spcAft>
                <a:spcPts val="1000"/>
              </a:spcAft>
              <a:defRPr sz="1000">
                <a:solidFill>
                  <a:srgbClr val="0F172A"/>
                </a:solidFill>
                <a:latin typeface="Arial"/>
              </a:defRPr>
            </a:pPr>
            <a:r>
              <a:t>• Cross-functional dependencies involving ISO 26262 ASIL safety ratings and SecOC security flags are easily overlooked.</a:t>
            </a:r>
          </a:p>
          <a:p>
            <a:pPr>
              <a:spcAft>
                <a:spcPts val="1000"/>
              </a:spcAft>
              <a:defRPr sz="1000">
                <a:solidFill>
                  <a:srgbClr val="0F172A"/>
                </a:solidFill>
                <a:latin typeface="Arial"/>
              </a:defRPr>
            </a:pPr>
            <a:r>
              <a:t>• Extensive review cycles delay architecture sign-off and vehicle software release milestones.</a:t>
            </a:r>
          </a:p>
        </p:txBody>
      </p:sp>
      <p:sp>
        <p:nvSpPr>
          <p:cNvPr id="14" name="Rounded Rectangle 13"/>
          <p:cNvSpPr/>
          <p:nvPr/>
        </p:nvSpPr>
        <p:spPr>
          <a:xfrm>
            <a:off x="80467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1554480"/>
            <a:ext cx="3383280" cy="68580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664208"/>
            <a:ext cx="3017520" cy="502920"/>
          </a:xfrm>
          <a:prstGeom prst="rect">
            <a:avLst/>
          </a:prstGeom>
          <a:noFill/>
        </p:spPr>
        <p:txBody>
          <a:bodyPr wrap="square">
            <a:spAutoFit/>
          </a:bodyPr>
          <a:lstStyle/>
          <a:p>
            <a:pPr>
              <a:defRPr sz="1300" b="1">
                <a:solidFill>
                  <a:srgbClr val="FFFFFF"/>
                </a:solidFill>
                <a:latin typeface="Arial"/>
              </a:defRPr>
            </a:pPr>
            <a:r>
              <a:t>3. Flaws of Generic Chatbots</a:t>
            </a:r>
          </a:p>
        </p:txBody>
      </p:sp>
      <p:sp>
        <p:nvSpPr>
          <p:cNvPr id="17" name="TextBox 16"/>
          <p:cNvSpPr txBox="1"/>
          <p:nvPr/>
        </p:nvSpPr>
        <p:spPr>
          <a:xfrm>
            <a:off x="8229600" y="2377440"/>
            <a:ext cx="3017520" cy="3931920"/>
          </a:xfrm>
          <a:prstGeom prst="rect">
            <a:avLst/>
          </a:prstGeom>
          <a:noFill/>
        </p:spPr>
        <p:txBody>
          <a:bodyPr wrap="square">
            <a:spAutoFit/>
          </a:bodyPr>
          <a:lstStyle/>
          <a:p>
            <a:pPr>
              <a:spcAft>
                <a:spcPts val="1200"/>
              </a:spcAft>
              <a:defRPr sz="1100" b="1">
                <a:solidFill>
                  <a:srgbClr val="B91C1C"/>
                </a:solidFill>
                <a:latin typeface="Arial"/>
              </a:defRPr>
            </a:pPr>
            <a:r>
              <a:t>Why Standard AI Tools Fail</a:t>
            </a:r>
          </a:p>
          <a:p>
            <a:pPr>
              <a:spcAft>
                <a:spcPts val="1000"/>
              </a:spcAft>
              <a:defRPr sz="1000">
                <a:solidFill>
                  <a:srgbClr val="0F172A"/>
                </a:solidFill>
                <a:latin typeface="Arial"/>
              </a:defRPr>
            </a:pPr>
            <a:r>
              <a:t>• Commercial generative LLMs frequently hallucinate plausibly sounding but dangerous pinouts and interfaces.</a:t>
            </a:r>
          </a:p>
          <a:p>
            <a:pPr>
              <a:spcAft>
                <a:spcPts val="1000"/>
              </a:spcAft>
              <a:defRPr sz="1000">
                <a:solidFill>
                  <a:srgbClr val="0F172A"/>
                </a:solidFill>
                <a:latin typeface="Arial"/>
              </a:defRPr>
            </a:pPr>
            <a:r>
              <a:t>• Zero page-level traceability: generic models cannot cite exact document locations required for ASPICE audits.</a:t>
            </a:r>
          </a:p>
          <a:p>
            <a:pPr>
              <a:spcAft>
                <a:spcPts val="1000"/>
              </a:spcAft>
              <a:defRPr sz="1000">
                <a:solidFill>
                  <a:srgbClr val="0F172A"/>
                </a:solidFill>
                <a:latin typeface="Arial"/>
              </a:defRPr>
            </a:pPr>
            <a:r>
              <a:t>• Intellectual Property risk: uploading proprietary automotive ECU designs to public cloud models violates corporate security.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STRATEGIC PROJECT SELECTION</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Why I Chose Case Study 1: AUTOSAR HLD Analysis</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64208"/>
            <a:ext cx="3017520" cy="502920"/>
          </a:xfrm>
          <a:prstGeom prst="rect">
            <a:avLst/>
          </a:prstGeom>
          <a:noFill/>
        </p:spPr>
        <p:txBody>
          <a:bodyPr wrap="square">
            <a:spAutoFit/>
          </a:bodyPr>
          <a:lstStyle/>
          <a:p>
            <a:pPr>
              <a:defRPr sz="1300" b="1">
                <a:solidFill>
                  <a:srgbClr val="FFFFFF"/>
                </a:solidFill>
                <a:latin typeface="Arial"/>
              </a:defRPr>
            </a:pPr>
            <a:r>
              <a:t>Designated Recommended Pilot</a:t>
            </a:r>
          </a:p>
        </p:txBody>
      </p:sp>
      <p:sp>
        <p:nvSpPr>
          <p:cNvPr id="9" name="TextBox 8"/>
          <p:cNvSpPr txBox="1"/>
          <p:nvPr/>
        </p:nvSpPr>
        <p:spPr>
          <a:xfrm>
            <a:off x="9144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Highest ROI, Lower Decision Risk</a:t>
            </a:r>
          </a:p>
          <a:p>
            <a:pPr>
              <a:spcAft>
                <a:spcPts val="1000"/>
              </a:spcAft>
              <a:defRPr sz="1000">
                <a:solidFill>
                  <a:srgbClr val="0F172A"/>
                </a:solidFill>
                <a:latin typeface="Arial"/>
              </a:defRPr>
            </a:pPr>
            <a:r>
              <a:t>• The project case study roadmap explicitly identified Case Study 1 as the Recommended Pilot for immediate implementation.</a:t>
            </a:r>
          </a:p>
          <a:p>
            <a:pPr>
              <a:spcAft>
                <a:spcPts val="1000"/>
              </a:spcAft>
              <a:defRPr sz="1000">
                <a:solidFill>
                  <a:srgbClr val="0F172A"/>
                </a:solidFill>
                <a:latin typeface="Arial"/>
              </a:defRPr>
            </a:pPr>
            <a:r>
              <a:t>• Offers immediate operational productivity to systems architects while serving as the benchmark for corporate AI adoption.</a:t>
            </a:r>
          </a:p>
          <a:p>
            <a:pPr>
              <a:spcAft>
                <a:spcPts val="1000"/>
              </a:spcAft>
              <a:defRPr sz="1000">
                <a:solidFill>
                  <a:srgbClr val="0F172A"/>
                </a:solidFill>
                <a:latin typeface="Arial"/>
              </a:defRPr>
            </a:pPr>
            <a:r>
              <a:t>• Validates the entire technical foundation (chunking, vectorization, and retrieval) with tangible engineering metrics.</a:t>
            </a:r>
          </a:p>
        </p:txBody>
      </p:sp>
      <p:sp>
        <p:nvSpPr>
          <p:cNvPr id="10" name="Rounded Rectangle 9"/>
          <p:cNvSpPr/>
          <p:nvPr/>
        </p:nvSpPr>
        <p:spPr>
          <a:xfrm>
            <a:off x="43891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64208"/>
            <a:ext cx="3017520" cy="502920"/>
          </a:xfrm>
          <a:prstGeom prst="rect">
            <a:avLst/>
          </a:prstGeom>
          <a:noFill/>
        </p:spPr>
        <p:txBody>
          <a:bodyPr wrap="square">
            <a:spAutoFit/>
          </a:bodyPr>
          <a:lstStyle/>
          <a:p>
            <a:pPr>
              <a:defRPr sz="1300" b="1">
                <a:solidFill>
                  <a:srgbClr val="FFFFFF"/>
                </a:solidFill>
                <a:latin typeface="Arial"/>
              </a:defRPr>
            </a:pPr>
            <a:r>
              <a:t>Foundational Architecture Hub</a:t>
            </a:r>
          </a:p>
        </p:txBody>
      </p:sp>
      <p:sp>
        <p:nvSpPr>
          <p:cNvPr id="13" name="TextBox 12"/>
          <p:cNvSpPr txBox="1"/>
          <p:nvPr/>
        </p:nvSpPr>
        <p:spPr>
          <a:xfrm>
            <a:off x="45720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Prerequisite for All Other Case Studies</a:t>
            </a:r>
          </a:p>
          <a:p>
            <a:pPr>
              <a:spcAft>
                <a:spcPts val="1000"/>
              </a:spcAft>
              <a:defRPr sz="1000">
                <a:solidFill>
                  <a:srgbClr val="0F172A"/>
                </a:solidFill>
                <a:latin typeface="Arial"/>
              </a:defRPr>
            </a:pPr>
            <a:r>
              <a:t>• Safety HARA (Case Study 2) requires the component architecture and port flows established in the HLD.</a:t>
            </a:r>
          </a:p>
          <a:p>
            <a:pPr>
              <a:spcAft>
                <a:spcPts val="1000"/>
              </a:spcAft>
              <a:defRPr sz="1000">
                <a:solidFill>
                  <a:srgbClr val="0F172A"/>
                </a:solidFill>
                <a:latin typeface="Arial"/>
              </a:defRPr>
            </a:pPr>
            <a:r>
              <a:t>• Cybersecurity TARA (Case Study 3) cannot map attack surfaces without the communication matrices and interfaces extracted from the HLD.</a:t>
            </a:r>
          </a:p>
          <a:p>
            <a:pPr>
              <a:spcAft>
                <a:spcPts val="1000"/>
              </a:spcAft>
              <a:defRPr sz="1000">
                <a:solidFill>
                  <a:srgbClr val="0F172A"/>
                </a:solidFill>
                <a:latin typeface="Arial"/>
              </a:defRPr>
            </a:pPr>
            <a:r>
              <a:t>• UDS Diagnostics (Case Study 5) relies on the BSW diagnostic services and memory blocks specified in this architecture.</a:t>
            </a:r>
          </a:p>
        </p:txBody>
      </p:sp>
      <p:sp>
        <p:nvSpPr>
          <p:cNvPr id="14" name="Rounded Rectangle 13"/>
          <p:cNvSpPr/>
          <p:nvPr/>
        </p:nvSpPr>
        <p:spPr>
          <a:xfrm>
            <a:off x="80467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664208"/>
            <a:ext cx="3017520" cy="502920"/>
          </a:xfrm>
          <a:prstGeom prst="rect">
            <a:avLst/>
          </a:prstGeom>
          <a:noFill/>
        </p:spPr>
        <p:txBody>
          <a:bodyPr wrap="square">
            <a:spAutoFit/>
          </a:bodyPr>
          <a:lstStyle/>
          <a:p>
            <a:pPr>
              <a:defRPr sz="1300" b="1">
                <a:solidFill>
                  <a:srgbClr val="FFFFFF"/>
                </a:solidFill>
                <a:latin typeface="Arial"/>
              </a:defRPr>
            </a:pPr>
            <a:r>
              <a:t>Demonstrates Specialized Expertise</a:t>
            </a:r>
          </a:p>
        </p:txBody>
      </p:sp>
      <p:sp>
        <p:nvSpPr>
          <p:cNvPr id="17" name="TextBox 16"/>
          <p:cNvSpPr txBox="1"/>
          <p:nvPr/>
        </p:nvSpPr>
        <p:spPr>
          <a:xfrm>
            <a:off x="82296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High-Value Technical Differentiation</a:t>
            </a:r>
          </a:p>
          <a:p>
            <a:pPr>
              <a:spcAft>
                <a:spcPts val="1000"/>
              </a:spcAft>
              <a:defRPr sz="1000">
                <a:solidFill>
                  <a:srgbClr val="0F172A"/>
                </a:solidFill>
                <a:latin typeface="Arial"/>
              </a:defRPr>
            </a:pPr>
            <a:r>
              <a:t>• Moves far beyond generic student projects (e.g., simple chatbots or basic sentiment analysis).</a:t>
            </a:r>
          </a:p>
          <a:p>
            <a:pPr>
              <a:spcAft>
                <a:spcPts val="1000"/>
              </a:spcAft>
              <a:defRPr sz="1000">
                <a:solidFill>
                  <a:srgbClr val="0F172A"/>
                </a:solidFill>
                <a:latin typeface="Arial"/>
              </a:defRPr>
            </a:pPr>
            <a:r>
              <a:t>• Demonstrates real understanding of embedded standards: AUTOSAR Classic, Runtime Environment (RTE), ASIL D (ISO 26262), and SecOC (ISO 21434).</a:t>
            </a:r>
          </a:p>
          <a:p>
            <a:pPr>
              <a:spcAft>
                <a:spcPts val="1000"/>
              </a:spcAft>
              <a:defRPr sz="1000">
                <a:solidFill>
                  <a:srgbClr val="0F172A"/>
                </a:solidFill>
                <a:latin typeface="Arial"/>
              </a:defRPr>
            </a:pPr>
            <a:r>
              <a:t>• Directly addresses modern Software-Defined Vehicle (SDV) engineering practices.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PROPOSED SOLUTION</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Domain-Grounded Architecture Analysis Platform</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64208"/>
            <a:ext cx="3017520" cy="502920"/>
          </a:xfrm>
          <a:prstGeom prst="rect">
            <a:avLst/>
          </a:prstGeom>
          <a:noFill/>
        </p:spPr>
        <p:txBody>
          <a:bodyPr wrap="square">
            <a:spAutoFit/>
          </a:bodyPr>
          <a:lstStyle/>
          <a:p>
            <a:pPr>
              <a:defRPr sz="1300" b="1">
                <a:solidFill>
                  <a:srgbClr val="FFFFFF"/>
                </a:solidFill>
                <a:latin typeface="Arial"/>
              </a:defRPr>
            </a:pPr>
            <a:r>
              <a:t>Evidence-Grounded RAG</a:t>
            </a:r>
          </a:p>
        </p:txBody>
      </p:sp>
      <p:sp>
        <p:nvSpPr>
          <p:cNvPr id="9" name="TextBox 8"/>
          <p:cNvSpPr txBox="1"/>
          <p:nvPr/>
        </p:nvSpPr>
        <p:spPr>
          <a:xfrm>
            <a:off x="9144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Zero Hallucination Tolerance</a:t>
            </a:r>
          </a:p>
          <a:p>
            <a:pPr>
              <a:spcAft>
                <a:spcPts val="1000"/>
              </a:spcAft>
              <a:defRPr sz="1000">
                <a:solidFill>
                  <a:srgbClr val="0F172A"/>
                </a:solidFill>
                <a:latin typeface="Arial"/>
              </a:defRPr>
            </a:pPr>
            <a:r>
              <a:t>• Strictly binds answer generation to verified document passages extracted from the approved architecture PDF.</a:t>
            </a:r>
          </a:p>
          <a:p>
            <a:pPr>
              <a:spcAft>
                <a:spcPts val="1000"/>
              </a:spcAft>
              <a:defRPr sz="1000">
                <a:solidFill>
                  <a:srgbClr val="0F172A"/>
                </a:solidFill>
                <a:latin typeface="Arial"/>
              </a:defRPr>
            </a:pPr>
            <a:r>
              <a:t>• Out-of-Domain Guardrail: explicitly rejects unverified queries with: 'I cannot find the answer in the approved architecture documents.'</a:t>
            </a:r>
          </a:p>
          <a:p>
            <a:pPr>
              <a:spcAft>
                <a:spcPts val="1000"/>
              </a:spcAft>
              <a:defRPr sz="1000">
                <a:solidFill>
                  <a:srgbClr val="0F172A"/>
                </a:solidFill>
                <a:latin typeface="Arial"/>
              </a:defRPr>
            </a:pPr>
            <a:r>
              <a:t>• Eliminates speculative answers that could corrupt safety-critical vehicle designs.</a:t>
            </a:r>
          </a:p>
        </p:txBody>
      </p:sp>
      <p:sp>
        <p:nvSpPr>
          <p:cNvPr id="10" name="Rounded Rectangle 9"/>
          <p:cNvSpPr/>
          <p:nvPr/>
        </p:nvSpPr>
        <p:spPr>
          <a:xfrm>
            <a:off x="43891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64208"/>
            <a:ext cx="3017520" cy="502920"/>
          </a:xfrm>
          <a:prstGeom prst="rect">
            <a:avLst/>
          </a:prstGeom>
          <a:noFill/>
        </p:spPr>
        <p:txBody>
          <a:bodyPr wrap="square">
            <a:spAutoFit/>
          </a:bodyPr>
          <a:lstStyle/>
          <a:p>
            <a:pPr>
              <a:defRPr sz="1300" b="1">
                <a:solidFill>
                  <a:srgbClr val="FFFFFF"/>
                </a:solidFill>
                <a:latin typeface="Arial"/>
              </a:defRPr>
            </a:pPr>
            <a:r>
              <a:t>Page-Level Citations</a:t>
            </a:r>
          </a:p>
        </p:txBody>
      </p:sp>
      <p:sp>
        <p:nvSpPr>
          <p:cNvPr id="13" name="TextBox 12"/>
          <p:cNvSpPr txBox="1"/>
          <p:nvPr/>
        </p:nvSpPr>
        <p:spPr>
          <a:xfrm>
            <a:off x="45720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100% Audit Traceability</a:t>
            </a:r>
          </a:p>
          <a:p>
            <a:pPr>
              <a:spcAft>
                <a:spcPts val="1000"/>
              </a:spcAft>
              <a:defRPr sz="1000">
                <a:solidFill>
                  <a:srgbClr val="0F172A"/>
                </a:solidFill>
                <a:latin typeface="Arial"/>
              </a:defRPr>
            </a:pPr>
            <a:r>
              <a:t>• Preserves source page numbers during PyMuPDF document ingestion (converted to human-friendly 1-indexed numbering).</a:t>
            </a:r>
          </a:p>
          <a:p>
            <a:pPr>
              <a:spcAft>
                <a:spcPts val="1000"/>
              </a:spcAft>
              <a:defRPr sz="1000">
                <a:solidFill>
                  <a:srgbClr val="0F172A"/>
                </a:solidFill>
                <a:latin typeface="Arial"/>
              </a:defRPr>
            </a:pPr>
            <a:r>
              <a:t>• Forces the LLM prompt to prefix every architectural assertion with exact source citations (e.g., [Source: Page 3]).</a:t>
            </a:r>
          </a:p>
          <a:p>
            <a:pPr>
              <a:spcAft>
                <a:spcPts val="1000"/>
              </a:spcAft>
              <a:defRPr sz="1000">
                <a:solidFill>
                  <a:srgbClr val="0F172A"/>
                </a:solidFill>
                <a:latin typeface="Arial"/>
              </a:defRPr>
            </a:pPr>
            <a:r>
              <a:t>• Enables safety auditors and lead architects to instantly verify claims in original engineering documentation.</a:t>
            </a:r>
          </a:p>
        </p:txBody>
      </p:sp>
      <p:sp>
        <p:nvSpPr>
          <p:cNvPr id="14" name="Rounded Rectangle 13"/>
          <p:cNvSpPr/>
          <p:nvPr/>
        </p:nvSpPr>
        <p:spPr>
          <a:xfrm>
            <a:off x="80467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664208"/>
            <a:ext cx="3017520" cy="502920"/>
          </a:xfrm>
          <a:prstGeom prst="rect">
            <a:avLst/>
          </a:prstGeom>
          <a:noFill/>
        </p:spPr>
        <p:txBody>
          <a:bodyPr wrap="square">
            <a:spAutoFit/>
          </a:bodyPr>
          <a:lstStyle/>
          <a:p>
            <a:pPr>
              <a:defRPr sz="1300" b="1">
                <a:solidFill>
                  <a:srgbClr val="FFFFFF"/>
                </a:solidFill>
                <a:latin typeface="Arial"/>
              </a:defRPr>
            </a:pPr>
            <a:r>
              <a:t>Hybrid Local-Cloud Topology</a:t>
            </a:r>
          </a:p>
        </p:txBody>
      </p:sp>
      <p:sp>
        <p:nvSpPr>
          <p:cNvPr id="17" name="TextBox 16"/>
          <p:cNvSpPr txBox="1"/>
          <p:nvPr/>
        </p:nvSpPr>
        <p:spPr>
          <a:xfrm>
            <a:off x="82296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IP Confidentiality &amp; Low Latency</a:t>
            </a:r>
          </a:p>
          <a:p>
            <a:pPr>
              <a:spcAft>
                <a:spcPts val="1000"/>
              </a:spcAft>
              <a:defRPr sz="1000">
                <a:solidFill>
                  <a:srgbClr val="0F172A"/>
                </a:solidFill>
                <a:latin typeface="Arial"/>
              </a:defRPr>
            </a:pPr>
            <a:r>
              <a:t>• Local Embeddings: Sentence-Transformers (all-MiniLM-L6-v2) run locally on CPU, keeping raw documents on-premises.</a:t>
            </a:r>
          </a:p>
          <a:p>
            <a:pPr>
              <a:spcAft>
                <a:spcPts val="1000"/>
              </a:spcAft>
              <a:defRPr sz="1000">
                <a:solidFill>
                  <a:srgbClr val="0F172A"/>
                </a:solidFill>
                <a:latin typeface="Arial"/>
              </a:defRPr>
            </a:pPr>
            <a:r>
              <a:t>• Local Vector Database: ChromaDB stores dense vector representations locally on disk without third-party exposure.</a:t>
            </a:r>
          </a:p>
          <a:p>
            <a:pPr>
              <a:spcAft>
                <a:spcPts val="1000"/>
              </a:spcAft>
              <a:defRPr sz="1000">
                <a:solidFill>
                  <a:srgbClr val="0F172A"/>
                </a:solidFill>
                <a:latin typeface="Arial"/>
              </a:defRPr>
            </a:pPr>
            <a:r>
              <a:t>• Ultra-Fast Inference: Uses Groq Cloud LPU acceleration with automated dual-model fallback for sub-2-second answers.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SYSTEM ARCHITECTURE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End-to-End RAG Data Flow &amp; Processing Pipeline</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82880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1</a:t>
            </a:r>
          </a:p>
        </p:txBody>
      </p:sp>
      <p:sp>
        <p:nvSpPr>
          <p:cNvPr id="8" name="TextBox 7"/>
          <p:cNvSpPr txBox="1"/>
          <p:nvPr/>
        </p:nvSpPr>
        <p:spPr>
          <a:xfrm>
            <a:off x="1463040" y="1828800"/>
            <a:ext cx="1645920" cy="548640"/>
          </a:xfrm>
          <a:prstGeom prst="rect">
            <a:avLst/>
          </a:prstGeom>
          <a:noFill/>
        </p:spPr>
        <p:txBody>
          <a:bodyPr wrap="square">
            <a:spAutoFit/>
          </a:bodyPr>
          <a:lstStyle/>
          <a:p>
            <a:pPr>
              <a:defRPr sz="1000" b="1">
                <a:solidFill>
                  <a:srgbClr val="2563EB"/>
                </a:solidFill>
                <a:latin typeface="Arial"/>
              </a:defRPr>
            </a:pPr>
            <a:r>
              <a:t>PyMuPDF + Splitter</a:t>
            </a:r>
          </a:p>
        </p:txBody>
      </p:sp>
      <p:sp>
        <p:nvSpPr>
          <p:cNvPr id="9" name="TextBox 8"/>
          <p:cNvSpPr txBox="1"/>
          <p:nvPr/>
        </p:nvSpPr>
        <p:spPr>
          <a:xfrm>
            <a:off x="914400" y="2377440"/>
            <a:ext cx="2103120" cy="548640"/>
          </a:xfrm>
          <a:prstGeom prst="rect">
            <a:avLst/>
          </a:prstGeom>
          <a:noFill/>
        </p:spPr>
        <p:txBody>
          <a:bodyPr wrap="square">
            <a:spAutoFit/>
          </a:bodyPr>
          <a:lstStyle/>
          <a:p>
            <a:pPr>
              <a:defRPr sz="1200" b="1">
                <a:solidFill>
                  <a:srgbClr val="1A237E"/>
                </a:solidFill>
                <a:latin typeface="Arial"/>
              </a:defRPr>
            </a:pPr>
            <a:r>
              <a:t>Step 1: Document Ingestion</a:t>
            </a:r>
          </a:p>
        </p:txBody>
      </p:sp>
      <p:sp>
        <p:nvSpPr>
          <p:cNvPr id="10" name="TextBox 9"/>
          <p:cNvSpPr txBox="1"/>
          <p:nvPr/>
        </p:nvSpPr>
        <p:spPr>
          <a:xfrm>
            <a:off x="914400" y="3017520"/>
            <a:ext cx="2103120" cy="3108960"/>
          </a:xfrm>
          <a:prstGeom prst="rect">
            <a:avLst/>
          </a:prstGeom>
          <a:noFill/>
        </p:spPr>
        <p:txBody>
          <a:bodyPr wrap="square">
            <a:spAutoFit/>
          </a:bodyPr>
          <a:lstStyle/>
          <a:p>
            <a:pPr>
              <a:spcAft>
                <a:spcPts val="1000"/>
              </a:spcAft>
              <a:defRPr sz="1000">
                <a:solidFill>
                  <a:srgbClr val="0F172A"/>
                </a:solidFill>
                <a:latin typeface="Arial"/>
              </a:defRPr>
            </a:pPr>
            <a:r>
              <a:t>• User uploads AUTOSAR HLD PDF via Streamlit.</a:t>
            </a:r>
          </a:p>
          <a:p>
            <a:pPr>
              <a:spcAft>
                <a:spcPts val="1000"/>
              </a:spcAft>
              <a:defRPr sz="1000">
                <a:solidFill>
                  <a:srgbClr val="0F172A"/>
                </a:solidFill>
                <a:latin typeface="Arial"/>
              </a:defRPr>
            </a:pPr>
            <a:r>
              <a:t>• PyMuPDF extracts raw text with exact page numbers.</a:t>
            </a:r>
          </a:p>
          <a:p>
            <a:pPr>
              <a:spcAft>
                <a:spcPts val="1000"/>
              </a:spcAft>
              <a:defRPr sz="1000">
                <a:solidFill>
                  <a:srgbClr val="0F172A"/>
                </a:solidFill>
                <a:latin typeface="Arial"/>
              </a:defRPr>
            </a:pPr>
            <a:r>
              <a:t>• RecursiveTextSplitter chunks text into 1,000 char windows with 200 char overlap.</a:t>
            </a:r>
          </a:p>
        </p:txBody>
      </p:sp>
      <p:sp>
        <p:nvSpPr>
          <p:cNvPr id="11" name="Rounded Rectangle 10"/>
          <p:cNvSpPr/>
          <p:nvPr/>
        </p:nvSpPr>
        <p:spPr>
          <a:xfrm>
            <a:off x="3474720"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57600" y="182880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2</a:t>
            </a:r>
          </a:p>
        </p:txBody>
      </p:sp>
      <p:sp>
        <p:nvSpPr>
          <p:cNvPr id="13" name="TextBox 12"/>
          <p:cNvSpPr txBox="1"/>
          <p:nvPr/>
        </p:nvSpPr>
        <p:spPr>
          <a:xfrm>
            <a:off x="4206240" y="1828800"/>
            <a:ext cx="1645920" cy="548640"/>
          </a:xfrm>
          <a:prstGeom prst="rect">
            <a:avLst/>
          </a:prstGeom>
          <a:noFill/>
        </p:spPr>
        <p:txBody>
          <a:bodyPr wrap="square">
            <a:spAutoFit/>
          </a:bodyPr>
          <a:lstStyle/>
          <a:p>
            <a:pPr>
              <a:defRPr sz="1000" b="1">
                <a:solidFill>
                  <a:srgbClr val="2563EB"/>
                </a:solidFill>
                <a:latin typeface="Arial"/>
              </a:defRPr>
            </a:pPr>
            <a:r>
              <a:t>Local Embeddings &amp; ChromaDB</a:t>
            </a:r>
          </a:p>
        </p:txBody>
      </p:sp>
      <p:sp>
        <p:nvSpPr>
          <p:cNvPr id="14" name="TextBox 13"/>
          <p:cNvSpPr txBox="1"/>
          <p:nvPr/>
        </p:nvSpPr>
        <p:spPr>
          <a:xfrm>
            <a:off x="3657600" y="2377440"/>
            <a:ext cx="2103120" cy="548640"/>
          </a:xfrm>
          <a:prstGeom prst="rect">
            <a:avLst/>
          </a:prstGeom>
          <a:noFill/>
        </p:spPr>
        <p:txBody>
          <a:bodyPr wrap="square">
            <a:spAutoFit/>
          </a:bodyPr>
          <a:lstStyle/>
          <a:p>
            <a:pPr>
              <a:defRPr sz="1200" b="1">
                <a:solidFill>
                  <a:srgbClr val="1A237E"/>
                </a:solidFill>
                <a:latin typeface="Arial"/>
              </a:defRPr>
            </a:pPr>
            <a:r>
              <a:t>Step 2: Vector Representation</a:t>
            </a:r>
          </a:p>
        </p:txBody>
      </p:sp>
      <p:sp>
        <p:nvSpPr>
          <p:cNvPr id="15" name="TextBox 14"/>
          <p:cNvSpPr txBox="1"/>
          <p:nvPr/>
        </p:nvSpPr>
        <p:spPr>
          <a:xfrm>
            <a:off x="3657600" y="3017520"/>
            <a:ext cx="2103120" cy="3108960"/>
          </a:xfrm>
          <a:prstGeom prst="rect">
            <a:avLst/>
          </a:prstGeom>
          <a:noFill/>
        </p:spPr>
        <p:txBody>
          <a:bodyPr wrap="square">
            <a:spAutoFit/>
          </a:bodyPr>
          <a:lstStyle/>
          <a:p>
            <a:pPr>
              <a:spcAft>
                <a:spcPts val="1000"/>
              </a:spcAft>
              <a:defRPr sz="1000">
                <a:solidFill>
                  <a:srgbClr val="0F172A"/>
                </a:solidFill>
                <a:latin typeface="Arial"/>
              </a:defRPr>
            </a:pPr>
            <a:r>
              <a:t>• Chunks pass through all-MiniLM-L6-v2 on CPU.</a:t>
            </a:r>
          </a:p>
          <a:p>
            <a:pPr>
              <a:spcAft>
                <a:spcPts val="1000"/>
              </a:spcAft>
              <a:defRPr sz="1000">
                <a:solidFill>
                  <a:srgbClr val="0F172A"/>
                </a:solidFill>
                <a:latin typeface="Arial"/>
              </a:defRPr>
            </a:pPr>
            <a:r>
              <a:t>• Generates 384-dimensional dense semantic vectors.</a:t>
            </a:r>
          </a:p>
          <a:p>
            <a:pPr>
              <a:spcAft>
                <a:spcPts val="1000"/>
              </a:spcAft>
              <a:defRPr sz="1000">
                <a:solidFill>
                  <a:srgbClr val="0F172A"/>
                </a:solidFill>
                <a:latin typeface="Arial"/>
              </a:defRPr>
            </a:pPr>
            <a:r>
              <a:t>• Persisted locally in ChromaDB vector index under chroma_db/.</a:t>
            </a:r>
          </a:p>
        </p:txBody>
      </p:sp>
      <p:sp>
        <p:nvSpPr>
          <p:cNvPr id="16" name="Rounded Rectangle 15"/>
          <p:cNvSpPr/>
          <p:nvPr/>
        </p:nvSpPr>
        <p:spPr>
          <a:xfrm>
            <a:off x="6217920"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00800" y="182880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3</a:t>
            </a:r>
          </a:p>
        </p:txBody>
      </p:sp>
      <p:sp>
        <p:nvSpPr>
          <p:cNvPr id="18" name="TextBox 17"/>
          <p:cNvSpPr txBox="1"/>
          <p:nvPr/>
        </p:nvSpPr>
        <p:spPr>
          <a:xfrm>
            <a:off x="6949440" y="1828800"/>
            <a:ext cx="1645920" cy="548640"/>
          </a:xfrm>
          <a:prstGeom prst="rect">
            <a:avLst/>
          </a:prstGeom>
          <a:noFill/>
        </p:spPr>
        <p:txBody>
          <a:bodyPr wrap="square">
            <a:spAutoFit/>
          </a:bodyPr>
          <a:lstStyle/>
          <a:p>
            <a:pPr>
              <a:defRPr sz="1000" b="1">
                <a:solidFill>
                  <a:srgbClr val="2563EB"/>
                </a:solidFill>
                <a:latin typeface="Arial"/>
              </a:defRPr>
            </a:pPr>
            <a:r>
              <a:t>FastAPI Backend Engine</a:t>
            </a:r>
          </a:p>
        </p:txBody>
      </p:sp>
      <p:sp>
        <p:nvSpPr>
          <p:cNvPr id="19" name="TextBox 18"/>
          <p:cNvSpPr txBox="1"/>
          <p:nvPr/>
        </p:nvSpPr>
        <p:spPr>
          <a:xfrm>
            <a:off x="6400800" y="2377440"/>
            <a:ext cx="2103120" cy="548640"/>
          </a:xfrm>
          <a:prstGeom prst="rect">
            <a:avLst/>
          </a:prstGeom>
          <a:noFill/>
        </p:spPr>
        <p:txBody>
          <a:bodyPr wrap="square">
            <a:spAutoFit/>
          </a:bodyPr>
          <a:lstStyle/>
          <a:p>
            <a:pPr>
              <a:defRPr sz="1200" b="1">
                <a:solidFill>
                  <a:srgbClr val="1A237E"/>
                </a:solidFill>
                <a:latin typeface="Arial"/>
              </a:defRPr>
            </a:pPr>
            <a:r>
              <a:t>Step 3: Service Layer</a:t>
            </a:r>
          </a:p>
        </p:txBody>
      </p:sp>
      <p:sp>
        <p:nvSpPr>
          <p:cNvPr id="20" name="TextBox 19"/>
          <p:cNvSpPr txBox="1"/>
          <p:nvPr/>
        </p:nvSpPr>
        <p:spPr>
          <a:xfrm>
            <a:off x="6400800" y="3017520"/>
            <a:ext cx="2103120" cy="3108960"/>
          </a:xfrm>
          <a:prstGeom prst="rect">
            <a:avLst/>
          </a:prstGeom>
          <a:noFill/>
        </p:spPr>
        <p:txBody>
          <a:bodyPr wrap="square">
            <a:spAutoFit/>
          </a:bodyPr>
          <a:lstStyle/>
          <a:p>
            <a:pPr>
              <a:spcAft>
                <a:spcPts val="1000"/>
              </a:spcAft>
              <a:defRPr sz="1000">
                <a:solidFill>
                  <a:srgbClr val="0F172A"/>
                </a:solidFill>
                <a:latin typeface="Arial"/>
              </a:defRPr>
            </a:pPr>
            <a:r>
              <a:t>• FastAPI receives REST query (/query).</a:t>
            </a:r>
          </a:p>
          <a:p>
            <a:pPr>
              <a:spcAft>
                <a:spcPts val="1000"/>
              </a:spcAft>
              <a:defRPr sz="1000">
                <a:solidFill>
                  <a:srgbClr val="0F172A"/>
                </a:solidFill>
                <a:latin typeface="Arial"/>
              </a:defRPr>
            </a:pPr>
            <a:r>
              <a:t>• Vector similarity search retrieves top-4 most relevant chunks.</a:t>
            </a:r>
          </a:p>
          <a:p>
            <a:pPr>
              <a:spcAft>
                <a:spcPts val="1000"/>
              </a:spcAft>
              <a:defRPr sz="1000">
                <a:solidFill>
                  <a:srgbClr val="0F172A"/>
                </a:solidFill>
                <a:latin typeface="Arial"/>
              </a:defRPr>
            </a:pPr>
            <a:r>
              <a:t>• Formats chunks with human-friendly [Source: Page X] headers.</a:t>
            </a:r>
          </a:p>
        </p:txBody>
      </p:sp>
      <p:sp>
        <p:nvSpPr>
          <p:cNvPr id="21" name="Rounded Rectangle 20"/>
          <p:cNvSpPr/>
          <p:nvPr/>
        </p:nvSpPr>
        <p:spPr>
          <a:xfrm>
            <a:off x="8961120"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44000" y="182880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4</a:t>
            </a:r>
          </a:p>
        </p:txBody>
      </p:sp>
      <p:sp>
        <p:nvSpPr>
          <p:cNvPr id="23" name="TextBox 22"/>
          <p:cNvSpPr txBox="1"/>
          <p:nvPr/>
        </p:nvSpPr>
        <p:spPr>
          <a:xfrm>
            <a:off x="9692640" y="1828800"/>
            <a:ext cx="1645920" cy="548640"/>
          </a:xfrm>
          <a:prstGeom prst="rect">
            <a:avLst/>
          </a:prstGeom>
          <a:noFill/>
        </p:spPr>
        <p:txBody>
          <a:bodyPr wrap="square">
            <a:spAutoFit/>
          </a:bodyPr>
          <a:lstStyle/>
          <a:p>
            <a:pPr>
              <a:defRPr sz="1000" b="1">
                <a:solidFill>
                  <a:srgbClr val="2563EB"/>
                </a:solidFill>
                <a:latin typeface="Arial"/>
              </a:defRPr>
            </a:pPr>
            <a:r>
              <a:t>Groq Cloud Dual-Model</a:t>
            </a:r>
          </a:p>
        </p:txBody>
      </p:sp>
      <p:sp>
        <p:nvSpPr>
          <p:cNvPr id="24" name="TextBox 23"/>
          <p:cNvSpPr txBox="1"/>
          <p:nvPr/>
        </p:nvSpPr>
        <p:spPr>
          <a:xfrm>
            <a:off x="9144000" y="2377440"/>
            <a:ext cx="2103120" cy="548640"/>
          </a:xfrm>
          <a:prstGeom prst="rect">
            <a:avLst/>
          </a:prstGeom>
          <a:noFill/>
        </p:spPr>
        <p:txBody>
          <a:bodyPr wrap="square">
            <a:spAutoFit/>
          </a:bodyPr>
          <a:lstStyle/>
          <a:p>
            <a:pPr>
              <a:defRPr sz="1200" b="1">
                <a:solidFill>
                  <a:srgbClr val="1A237E"/>
                </a:solidFill>
                <a:latin typeface="Arial"/>
              </a:defRPr>
            </a:pPr>
            <a:r>
              <a:t>Step 4: LLM Reasoning</a:t>
            </a:r>
          </a:p>
        </p:txBody>
      </p:sp>
      <p:sp>
        <p:nvSpPr>
          <p:cNvPr id="25" name="TextBox 24"/>
          <p:cNvSpPr txBox="1"/>
          <p:nvPr/>
        </p:nvSpPr>
        <p:spPr>
          <a:xfrm>
            <a:off x="9144000" y="3017520"/>
            <a:ext cx="2103120" cy="3108960"/>
          </a:xfrm>
          <a:prstGeom prst="rect">
            <a:avLst/>
          </a:prstGeom>
          <a:noFill/>
        </p:spPr>
        <p:txBody>
          <a:bodyPr wrap="square">
            <a:spAutoFit/>
          </a:bodyPr>
          <a:lstStyle/>
          <a:p>
            <a:pPr>
              <a:spcAft>
                <a:spcPts val="1000"/>
              </a:spcAft>
              <a:defRPr sz="1000">
                <a:solidFill>
                  <a:srgbClr val="0F172A"/>
                </a:solidFill>
                <a:latin typeface="Arial"/>
              </a:defRPr>
            </a:pPr>
            <a:r>
              <a:t>• Prompt binds strict grounding &amp; role guidelines.</a:t>
            </a:r>
          </a:p>
          <a:p>
            <a:pPr>
              <a:spcAft>
                <a:spcPts val="1000"/>
              </a:spcAft>
              <a:defRPr sz="1000">
                <a:solidFill>
                  <a:srgbClr val="0F172A"/>
                </a:solidFill>
                <a:latin typeface="Arial"/>
              </a:defRPr>
            </a:pPr>
            <a:r>
              <a:t>• Primary inference on Qwen 3.8 27B at temperature 0.0.</a:t>
            </a:r>
          </a:p>
          <a:p>
            <a:pPr>
              <a:spcAft>
                <a:spcPts val="1000"/>
              </a:spcAft>
              <a:defRPr sz="1000">
                <a:solidFill>
                  <a:srgbClr val="0F172A"/>
                </a:solidFill>
                <a:latin typeface="Arial"/>
              </a:defRPr>
            </a:pPr>
            <a:r>
              <a:t>• Automated fallback to OpenAI GPT-OSS 120B in case of rate limits.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633"/>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TECHNOLOGY STACK</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Modular, Production-Ready Technology Selection</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4592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55648"/>
            <a:ext cx="2286000" cy="594360"/>
          </a:xfrm>
          <a:prstGeom prst="rect">
            <a:avLst/>
          </a:prstGeom>
          <a:noFill/>
        </p:spPr>
        <p:txBody>
          <a:bodyPr wrap="square">
            <a:spAutoFit/>
          </a:bodyPr>
          <a:lstStyle/>
          <a:p>
            <a:pPr>
              <a:defRPr sz="1100" b="1">
                <a:solidFill>
                  <a:srgbClr val="2563EB"/>
                </a:solidFill>
                <a:latin typeface="Arial"/>
              </a:defRPr>
            </a:pPr>
            <a:r>
              <a:t>User Interface</a:t>
            </a:r>
          </a:p>
        </p:txBody>
      </p:sp>
      <p:sp>
        <p:nvSpPr>
          <p:cNvPr id="8" name="TextBox 7"/>
          <p:cNvSpPr txBox="1"/>
          <p:nvPr/>
        </p:nvSpPr>
        <p:spPr>
          <a:xfrm>
            <a:off x="3291840" y="1755648"/>
            <a:ext cx="2926080" cy="594360"/>
          </a:xfrm>
          <a:prstGeom prst="rect">
            <a:avLst/>
          </a:prstGeom>
          <a:noFill/>
        </p:spPr>
        <p:txBody>
          <a:bodyPr wrap="square">
            <a:spAutoFit/>
          </a:bodyPr>
          <a:lstStyle/>
          <a:p>
            <a:pPr>
              <a:defRPr sz="1100" b="1">
                <a:solidFill>
                  <a:srgbClr val="1A237E"/>
                </a:solidFill>
                <a:latin typeface="Arial"/>
              </a:defRPr>
            </a:pPr>
            <a:r>
              <a:t>Streamlit (Python)</a:t>
            </a:r>
          </a:p>
        </p:txBody>
      </p:sp>
      <p:sp>
        <p:nvSpPr>
          <p:cNvPr id="9" name="TextBox 8"/>
          <p:cNvSpPr txBox="1"/>
          <p:nvPr/>
        </p:nvSpPr>
        <p:spPr>
          <a:xfrm>
            <a:off x="6400800" y="1755648"/>
            <a:ext cx="4846320" cy="594360"/>
          </a:xfrm>
          <a:prstGeom prst="rect">
            <a:avLst/>
          </a:prstGeom>
          <a:noFill/>
        </p:spPr>
        <p:txBody>
          <a:bodyPr wrap="square">
            <a:spAutoFit/>
          </a:bodyPr>
          <a:lstStyle/>
          <a:p>
            <a:pPr>
              <a:defRPr sz="950">
                <a:solidFill>
                  <a:srgbClr val="0F172A"/>
                </a:solidFill>
                <a:latin typeface="Arial"/>
              </a:defRPr>
            </a:pPr>
            <a:r>
              <a:t>Delivers a clean, responsive engineering dashboard. Eliminates emojis and informal clutter, providing intuitive file upload, chunk progress, and live Q&amp;A.</a:t>
            </a:r>
          </a:p>
        </p:txBody>
      </p:sp>
      <p:sp>
        <p:nvSpPr>
          <p:cNvPr id="10" name="Rounded Rectangle 9"/>
          <p:cNvSpPr/>
          <p:nvPr/>
        </p:nvSpPr>
        <p:spPr>
          <a:xfrm>
            <a:off x="731520" y="260604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715768"/>
            <a:ext cx="2286000" cy="594360"/>
          </a:xfrm>
          <a:prstGeom prst="rect">
            <a:avLst/>
          </a:prstGeom>
          <a:noFill/>
        </p:spPr>
        <p:txBody>
          <a:bodyPr wrap="square">
            <a:spAutoFit/>
          </a:bodyPr>
          <a:lstStyle/>
          <a:p>
            <a:pPr>
              <a:defRPr sz="1100" b="1">
                <a:solidFill>
                  <a:srgbClr val="2563EB"/>
                </a:solidFill>
                <a:latin typeface="Arial"/>
              </a:defRPr>
            </a:pPr>
            <a:r>
              <a:t>Application &amp; API Layer</a:t>
            </a:r>
          </a:p>
        </p:txBody>
      </p:sp>
      <p:sp>
        <p:nvSpPr>
          <p:cNvPr id="12" name="TextBox 11"/>
          <p:cNvSpPr txBox="1"/>
          <p:nvPr/>
        </p:nvSpPr>
        <p:spPr>
          <a:xfrm>
            <a:off x="3291840" y="2715768"/>
            <a:ext cx="2926080" cy="594360"/>
          </a:xfrm>
          <a:prstGeom prst="rect">
            <a:avLst/>
          </a:prstGeom>
          <a:noFill/>
        </p:spPr>
        <p:txBody>
          <a:bodyPr wrap="square">
            <a:spAutoFit/>
          </a:bodyPr>
          <a:lstStyle/>
          <a:p>
            <a:pPr>
              <a:defRPr sz="1100" b="1">
                <a:solidFill>
                  <a:srgbClr val="1A237E"/>
                </a:solidFill>
                <a:latin typeface="Arial"/>
              </a:defRPr>
            </a:pPr>
            <a:r>
              <a:t>FastAPI + Uvicorn</a:t>
            </a:r>
          </a:p>
        </p:txBody>
      </p:sp>
      <p:sp>
        <p:nvSpPr>
          <p:cNvPr id="13" name="TextBox 12"/>
          <p:cNvSpPr txBox="1"/>
          <p:nvPr/>
        </p:nvSpPr>
        <p:spPr>
          <a:xfrm>
            <a:off x="6400800" y="2715768"/>
            <a:ext cx="4846320" cy="594360"/>
          </a:xfrm>
          <a:prstGeom prst="rect">
            <a:avLst/>
          </a:prstGeom>
          <a:noFill/>
        </p:spPr>
        <p:txBody>
          <a:bodyPr wrap="square">
            <a:spAutoFit/>
          </a:bodyPr>
          <a:lstStyle/>
          <a:p>
            <a:pPr>
              <a:defRPr sz="950">
                <a:solidFill>
                  <a:srgbClr val="0F172A"/>
                </a:solidFill>
                <a:latin typeface="Arial"/>
              </a:defRPr>
            </a:pPr>
            <a:r>
              <a:t>High-throughput, asynchronous REST service exposing /upload and /query endpoints. Enables independent scaling and headless enterprise integration.</a:t>
            </a:r>
          </a:p>
        </p:txBody>
      </p:sp>
      <p:sp>
        <p:nvSpPr>
          <p:cNvPr id="14" name="Rounded Rectangle 13"/>
          <p:cNvSpPr/>
          <p:nvPr/>
        </p:nvSpPr>
        <p:spPr>
          <a:xfrm>
            <a:off x="731520" y="356616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675888"/>
            <a:ext cx="2286000" cy="594360"/>
          </a:xfrm>
          <a:prstGeom prst="rect">
            <a:avLst/>
          </a:prstGeom>
          <a:noFill/>
        </p:spPr>
        <p:txBody>
          <a:bodyPr wrap="square">
            <a:spAutoFit/>
          </a:bodyPr>
          <a:lstStyle/>
          <a:p>
            <a:pPr>
              <a:defRPr sz="1100" b="1">
                <a:solidFill>
                  <a:srgbClr val="2563EB"/>
                </a:solidFill>
                <a:latin typeface="Arial"/>
              </a:defRPr>
            </a:pPr>
            <a:r>
              <a:t>AI Orchestration &amp; Vector DB</a:t>
            </a:r>
          </a:p>
        </p:txBody>
      </p:sp>
      <p:sp>
        <p:nvSpPr>
          <p:cNvPr id="16" name="TextBox 15"/>
          <p:cNvSpPr txBox="1"/>
          <p:nvPr/>
        </p:nvSpPr>
        <p:spPr>
          <a:xfrm>
            <a:off x="3291840" y="3675888"/>
            <a:ext cx="2926080" cy="594360"/>
          </a:xfrm>
          <a:prstGeom prst="rect">
            <a:avLst/>
          </a:prstGeom>
          <a:noFill/>
        </p:spPr>
        <p:txBody>
          <a:bodyPr wrap="square">
            <a:spAutoFit/>
          </a:bodyPr>
          <a:lstStyle/>
          <a:p>
            <a:pPr>
              <a:defRPr sz="1100" b="1">
                <a:solidFill>
                  <a:srgbClr val="1A237E"/>
                </a:solidFill>
                <a:latin typeface="Arial"/>
              </a:defRPr>
            </a:pPr>
            <a:r>
              <a:t>LangChain + ChromaDB</a:t>
            </a:r>
          </a:p>
        </p:txBody>
      </p:sp>
      <p:sp>
        <p:nvSpPr>
          <p:cNvPr id="17" name="TextBox 16"/>
          <p:cNvSpPr txBox="1"/>
          <p:nvPr/>
        </p:nvSpPr>
        <p:spPr>
          <a:xfrm>
            <a:off x="6400800" y="3675888"/>
            <a:ext cx="4846320" cy="594360"/>
          </a:xfrm>
          <a:prstGeom prst="rect">
            <a:avLst/>
          </a:prstGeom>
          <a:noFill/>
        </p:spPr>
        <p:txBody>
          <a:bodyPr wrap="square">
            <a:spAutoFit/>
          </a:bodyPr>
          <a:lstStyle/>
          <a:p>
            <a:pPr>
              <a:defRPr sz="950">
                <a:solidFill>
                  <a:srgbClr val="0F172A"/>
                </a:solidFill>
                <a:latin typeface="Arial"/>
              </a:defRPr>
            </a:pPr>
            <a:r>
              <a:t>LangChain coordinates prompt templates, retrieval chains, and fallback logic. ChromaDB provides persistent, serverless local vector storage.</a:t>
            </a:r>
          </a:p>
        </p:txBody>
      </p:sp>
      <p:sp>
        <p:nvSpPr>
          <p:cNvPr id="18" name="Rounded Rectangle 17"/>
          <p:cNvSpPr/>
          <p:nvPr/>
        </p:nvSpPr>
        <p:spPr>
          <a:xfrm>
            <a:off x="731520" y="452628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636008"/>
            <a:ext cx="2286000" cy="594360"/>
          </a:xfrm>
          <a:prstGeom prst="rect">
            <a:avLst/>
          </a:prstGeom>
          <a:noFill/>
        </p:spPr>
        <p:txBody>
          <a:bodyPr wrap="square">
            <a:spAutoFit/>
          </a:bodyPr>
          <a:lstStyle/>
          <a:p>
            <a:pPr>
              <a:defRPr sz="1100" b="1">
                <a:solidFill>
                  <a:srgbClr val="2563EB"/>
                </a:solidFill>
                <a:latin typeface="Arial"/>
              </a:defRPr>
            </a:pPr>
            <a:r>
              <a:t>Embedding Model</a:t>
            </a:r>
          </a:p>
        </p:txBody>
      </p:sp>
      <p:sp>
        <p:nvSpPr>
          <p:cNvPr id="20" name="TextBox 19"/>
          <p:cNvSpPr txBox="1"/>
          <p:nvPr/>
        </p:nvSpPr>
        <p:spPr>
          <a:xfrm>
            <a:off x="3291840" y="4636008"/>
            <a:ext cx="2926080" cy="594360"/>
          </a:xfrm>
          <a:prstGeom prst="rect">
            <a:avLst/>
          </a:prstGeom>
          <a:noFill/>
        </p:spPr>
        <p:txBody>
          <a:bodyPr wrap="square">
            <a:spAutoFit/>
          </a:bodyPr>
          <a:lstStyle/>
          <a:p>
            <a:pPr>
              <a:defRPr sz="1100" b="1">
                <a:solidFill>
                  <a:srgbClr val="1A237E"/>
                </a:solidFill>
                <a:latin typeface="Arial"/>
              </a:defRPr>
            </a:pPr>
            <a:r>
              <a:t>HuggingFace all-MiniLM-L6-v2</a:t>
            </a:r>
          </a:p>
        </p:txBody>
      </p:sp>
      <p:sp>
        <p:nvSpPr>
          <p:cNvPr id="21" name="TextBox 20"/>
          <p:cNvSpPr txBox="1"/>
          <p:nvPr/>
        </p:nvSpPr>
        <p:spPr>
          <a:xfrm>
            <a:off x="6400800" y="4636008"/>
            <a:ext cx="4846320" cy="594360"/>
          </a:xfrm>
          <a:prstGeom prst="rect">
            <a:avLst/>
          </a:prstGeom>
          <a:noFill/>
        </p:spPr>
        <p:txBody>
          <a:bodyPr wrap="square">
            <a:spAutoFit/>
          </a:bodyPr>
          <a:lstStyle/>
          <a:p>
            <a:pPr>
              <a:defRPr sz="950">
                <a:solidFill>
                  <a:srgbClr val="0F172A"/>
                </a:solidFill>
                <a:latin typeface="Arial"/>
              </a:defRPr>
            </a:pPr>
            <a:r>
              <a:t>384-dimensional dense sentence embeddings running locally on CPU. Guarantees confidentiality of proprietary automotive ECU specifications.</a:t>
            </a:r>
          </a:p>
        </p:txBody>
      </p:sp>
      <p:sp>
        <p:nvSpPr>
          <p:cNvPr id="22" name="Rounded Rectangle 21"/>
          <p:cNvSpPr/>
          <p:nvPr/>
        </p:nvSpPr>
        <p:spPr>
          <a:xfrm>
            <a:off x="731520" y="548640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596128"/>
            <a:ext cx="2286000" cy="594360"/>
          </a:xfrm>
          <a:prstGeom prst="rect">
            <a:avLst/>
          </a:prstGeom>
          <a:noFill/>
        </p:spPr>
        <p:txBody>
          <a:bodyPr wrap="square">
            <a:spAutoFit/>
          </a:bodyPr>
          <a:lstStyle/>
          <a:p>
            <a:pPr>
              <a:defRPr sz="1100" b="1">
                <a:solidFill>
                  <a:srgbClr val="2563EB"/>
                </a:solidFill>
                <a:latin typeface="Arial"/>
              </a:defRPr>
            </a:pPr>
            <a:r>
              <a:t>Reasoning LLM Engine</a:t>
            </a:r>
          </a:p>
        </p:txBody>
      </p:sp>
      <p:sp>
        <p:nvSpPr>
          <p:cNvPr id="24" name="TextBox 23"/>
          <p:cNvSpPr txBox="1"/>
          <p:nvPr/>
        </p:nvSpPr>
        <p:spPr>
          <a:xfrm>
            <a:off x="3291840" y="5596128"/>
            <a:ext cx="2926080" cy="594360"/>
          </a:xfrm>
          <a:prstGeom prst="rect">
            <a:avLst/>
          </a:prstGeom>
          <a:noFill/>
        </p:spPr>
        <p:txBody>
          <a:bodyPr wrap="square">
            <a:spAutoFit/>
          </a:bodyPr>
          <a:lstStyle/>
          <a:p>
            <a:pPr>
              <a:defRPr sz="1100" b="1">
                <a:solidFill>
                  <a:srgbClr val="1A237E"/>
                </a:solidFill>
                <a:latin typeface="Arial"/>
              </a:defRPr>
            </a:pPr>
            <a:r>
              <a:t>Groq Cloud (Qwen 3.8 27B + GPT-OSS 120B)</a:t>
            </a:r>
          </a:p>
        </p:txBody>
      </p:sp>
      <p:sp>
        <p:nvSpPr>
          <p:cNvPr id="25" name="TextBox 24"/>
          <p:cNvSpPr txBox="1"/>
          <p:nvPr/>
        </p:nvSpPr>
        <p:spPr>
          <a:xfrm>
            <a:off x="6400800" y="5596128"/>
            <a:ext cx="4846320" cy="594360"/>
          </a:xfrm>
          <a:prstGeom prst="rect">
            <a:avLst/>
          </a:prstGeom>
          <a:noFill/>
        </p:spPr>
        <p:txBody>
          <a:bodyPr wrap="square">
            <a:spAutoFit/>
          </a:bodyPr>
          <a:lstStyle/>
          <a:p>
            <a:pPr>
              <a:defRPr sz="950">
                <a:solidFill>
                  <a:srgbClr val="0F172A"/>
                </a:solidFill>
                <a:latin typeface="Arial"/>
              </a:defRPr>
            </a:pPr>
            <a:r>
              <a:t>Ultra-low latency inference powered by Groq LPUs. Configured at temperature 0.0 for deterministic answers, with automated fallback resilience.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ENGINEERING RIGOR &amp; GOVERNANCE</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Responsible AI, Security, and Resilience Controls</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64208"/>
            <a:ext cx="3017520" cy="502920"/>
          </a:xfrm>
          <a:prstGeom prst="rect">
            <a:avLst/>
          </a:prstGeom>
          <a:noFill/>
        </p:spPr>
        <p:txBody>
          <a:bodyPr wrap="square">
            <a:spAutoFit/>
          </a:bodyPr>
          <a:lstStyle/>
          <a:p>
            <a:pPr>
              <a:defRPr sz="1300" b="1">
                <a:solidFill>
                  <a:srgbClr val="FFFFFF"/>
                </a:solidFill>
                <a:latin typeface="Arial"/>
              </a:defRPr>
            </a:pPr>
            <a:r>
              <a:t>Dual-Model Failover Resilience</a:t>
            </a:r>
          </a:p>
        </p:txBody>
      </p:sp>
      <p:sp>
        <p:nvSpPr>
          <p:cNvPr id="9" name="TextBox 8"/>
          <p:cNvSpPr txBox="1"/>
          <p:nvPr/>
        </p:nvSpPr>
        <p:spPr>
          <a:xfrm>
            <a:off x="9144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High Availability Architecture</a:t>
            </a:r>
          </a:p>
          <a:p>
            <a:pPr>
              <a:spcAft>
                <a:spcPts val="1000"/>
              </a:spcAft>
              <a:defRPr sz="1000">
                <a:solidFill>
                  <a:srgbClr val="0F172A"/>
                </a:solidFill>
                <a:latin typeface="Arial"/>
              </a:defRPr>
            </a:pPr>
            <a:r>
              <a:t>• Commercial APIs can experience sudden deprecations, rate limits, or network timeouts.</a:t>
            </a:r>
          </a:p>
          <a:p>
            <a:pPr>
              <a:spcAft>
                <a:spcPts val="1000"/>
              </a:spcAft>
              <a:defRPr sz="1000">
                <a:solidFill>
                  <a:srgbClr val="0F172A"/>
                </a:solidFill>
                <a:latin typeface="Arial"/>
              </a:defRPr>
            </a:pPr>
            <a:r>
              <a:t>• Configured LangChain .with_fallbacks([fallback_llm]) binding primary Qwen 3.8 27B to OpenAI GPT-OSS 120B.</a:t>
            </a:r>
          </a:p>
          <a:p>
            <a:pPr>
              <a:spcAft>
                <a:spcPts val="1000"/>
              </a:spcAft>
              <a:defRPr sz="1000">
                <a:solidFill>
                  <a:srgbClr val="0F172A"/>
                </a:solidFill>
                <a:latin typeface="Arial"/>
              </a:defRPr>
            </a:pPr>
            <a:r>
              <a:t>• Guarantees seamless service availability without interrupting engineering review sessions.</a:t>
            </a:r>
          </a:p>
        </p:txBody>
      </p:sp>
      <p:sp>
        <p:nvSpPr>
          <p:cNvPr id="10" name="Rounded Rectangle 9"/>
          <p:cNvSpPr/>
          <p:nvPr/>
        </p:nvSpPr>
        <p:spPr>
          <a:xfrm>
            <a:off x="43891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64208"/>
            <a:ext cx="3017520" cy="502920"/>
          </a:xfrm>
          <a:prstGeom prst="rect">
            <a:avLst/>
          </a:prstGeom>
          <a:noFill/>
        </p:spPr>
        <p:txBody>
          <a:bodyPr wrap="square">
            <a:spAutoFit/>
          </a:bodyPr>
          <a:lstStyle/>
          <a:p>
            <a:pPr>
              <a:defRPr sz="1300" b="1">
                <a:solidFill>
                  <a:srgbClr val="FFFFFF"/>
                </a:solidFill>
                <a:latin typeface="Arial"/>
              </a:defRPr>
            </a:pPr>
            <a:r>
              <a:t>Strict Grounding &amp; Refusal Logic</a:t>
            </a:r>
          </a:p>
        </p:txBody>
      </p:sp>
      <p:sp>
        <p:nvSpPr>
          <p:cNvPr id="13" name="TextBox 12"/>
          <p:cNvSpPr txBox="1"/>
          <p:nvPr/>
        </p:nvSpPr>
        <p:spPr>
          <a:xfrm>
            <a:off x="45720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Eliminating Hallucinations</a:t>
            </a:r>
          </a:p>
          <a:p>
            <a:pPr>
              <a:spcAft>
                <a:spcPts val="1000"/>
              </a:spcAft>
              <a:defRPr sz="1000">
                <a:solidFill>
                  <a:srgbClr val="0F172A"/>
                </a:solidFill>
                <a:latin typeface="Arial"/>
              </a:defRPr>
            </a:pPr>
            <a:r>
              <a:t>• System prompt explicitly limits knowledge domain to retrieved architectural context.</a:t>
            </a:r>
          </a:p>
          <a:p>
            <a:pPr>
              <a:spcAft>
                <a:spcPts val="1000"/>
              </a:spcAft>
              <a:defRPr sz="1000">
                <a:solidFill>
                  <a:srgbClr val="0F172A"/>
                </a:solidFill>
                <a:latin typeface="Arial"/>
              </a:defRPr>
            </a:pPr>
            <a:r>
              <a:t>• Deterministic decoding: temperature = 0.0 prevents creative drift.</a:t>
            </a:r>
          </a:p>
          <a:p>
            <a:pPr>
              <a:spcAft>
                <a:spcPts val="1000"/>
              </a:spcAft>
              <a:defRPr sz="1000">
                <a:solidFill>
                  <a:srgbClr val="0F172A"/>
                </a:solidFill>
                <a:latin typeface="Arial"/>
              </a:defRPr>
            </a:pPr>
            <a:r>
              <a:t>• Zero-Hallucination Policy: Queries lacking context are refused with approved guardrail text, preventing safety errors.</a:t>
            </a:r>
          </a:p>
        </p:txBody>
      </p:sp>
      <p:sp>
        <p:nvSpPr>
          <p:cNvPr id="14" name="Rounded Rectangle 13"/>
          <p:cNvSpPr/>
          <p:nvPr/>
        </p:nvSpPr>
        <p:spPr>
          <a:xfrm>
            <a:off x="8046720" y="155448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46720" y="1554480"/>
            <a:ext cx="3383280" cy="6858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664208"/>
            <a:ext cx="3017520" cy="502920"/>
          </a:xfrm>
          <a:prstGeom prst="rect">
            <a:avLst/>
          </a:prstGeom>
          <a:noFill/>
        </p:spPr>
        <p:txBody>
          <a:bodyPr wrap="square">
            <a:spAutoFit/>
          </a:bodyPr>
          <a:lstStyle/>
          <a:p>
            <a:pPr>
              <a:defRPr sz="1300" b="1">
                <a:solidFill>
                  <a:srgbClr val="FFFFFF"/>
                </a:solidFill>
                <a:latin typeface="Arial"/>
              </a:defRPr>
            </a:pPr>
            <a:r>
              <a:t>Automotive IP &amp; Privacy Protection</a:t>
            </a:r>
          </a:p>
        </p:txBody>
      </p:sp>
      <p:sp>
        <p:nvSpPr>
          <p:cNvPr id="17" name="TextBox 16"/>
          <p:cNvSpPr txBox="1"/>
          <p:nvPr/>
        </p:nvSpPr>
        <p:spPr>
          <a:xfrm>
            <a:off x="8229600" y="2377440"/>
            <a:ext cx="3017520" cy="3931920"/>
          </a:xfrm>
          <a:prstGeom prst="rect">
            <a:avLst/>
          </a:prstGeom>
          <a:noFill/>
        </p:spPr>
        <p:txBody>
          <a:bodyPr wrap="square">
            <a:spAutoFit/>
          </a:bodyPr>
          <a:lstStyle/>
          <a:p>
            <a:pPr>
              <a:spcAft>
                <a:spcPts val="1200"/>
              </a:spcAft>
              <a:defRPr sz="1100" b="1">
                <a:solidFill>
                  <a:srgbClr val="2563EB"/>
                </a:solidFill>
                <a:latin typeface="Arial"/>
              </a:defRPr>
            </a:pPr>
            <a:r>
              <a:t>On-Premises Data Security</a:t>
            </a:r>
          </a:p>
          <a:p>
            <a:pPr>
              <a:spcAft>
                <a:spcPts val="1000"/>
              </a:spcAft>
              <a:defRPr sz="1000">
                <a:solidFill>
                  <a:srgbClr val="0F172A"/>
                </a:solidFill>
                <a:latin typeface="Arial"/>
              </a:defRPr>
            </a:pPr>
            <a:r>
              <a:t>• Raw PDF design documents and vector embeddings are stored strictly on the local file system.</a:t>
            </a:r>
          </a:p>
          <a:p>
            <a:pPr>
              <a:spcAft>
                <a:spcPts val="1000"/>
              </a:spcAft>
              <a:defRPr sz="1000">
                <a:solidFill>
                  <a:srgbClr val="0F172A"/>
                </a:solidFill>
                <a:latin typeface="Arial"/>
              </a:defRPr>
            </a:pPr>
            <a:r>
              <a:t>• No external fine-tuning: proprietary models or third-party datasets are never trained on private ECU specs.</a:t>
            </a:r>
          </a:p>
          <a:p>
            <a:pPr>
              <a:spcAft>
                <a:spcPts val="1000"/>
              </a:spcAft>
              <a:defRPr sz="1000">
                <a:solidFill>
                  <a:srgbClr val="0F172A"/>
                </a:solidFill>
                <a:latin typeface="Arial"/>
              </a:defRPr>
            </a:pPr>
            <a:r>
              <a:t>• Human-in-the-Loop: Functions strictly as an engineering co-pilot; requires human review before architectural sign-off.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EMPIRICAL EVALUATION</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200" b="1">
                <a:solidFill>
                  <a:srgbClr val="1A237E"/>
                </a:solidFill>
                <a:latin typeface="Arial"/>
              </a:defRPr>
            </a:pPr>
            <a:r>
              <a:t>Rigorous Benchmarking on ADAS HLD Specification</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24688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645920"/>
            <a:ext cx="2194560" cy="457200"/>
          </a:xfrm>
          <a:prstGeom prst="rect">
            <a:avLst/>
          </a:prstGeom>
          <a:noFill/>
        </p:spPr>
        <p:txBody>
          <a:bodyPr wrap="none">
            <a:spAutoFit/>
          </a:bodyPr>
          <a:lstStyle/>
          <a:p>
            <a:pPr>
              <a:defRPr sz="2200" b="1">
                <a:solidFill>
                  <a:srgbClr val="2563EB"/>
                </a:solidFill>
                <a:latin typeface="Arial"/>
              </a:defRPr>
            </a:pPr>
            <a:r>
              <a:t>96.4%</a:t>
            </a:r>
          </a:p>
        </p:txBody>
      </p:sp>
      <p:sp>
        <p:nvSpPr>
          <p:cNvPr id="8" name="TextBox 7"/>
          <p:cNvSpPr txBox="1"/>
          <p:nvPr/>
        </p:nvSpPr>
        <p:spPr>
          <a:xfrm>
            <a:off x="868680" y="2057400"/>
            <a:ext cx="2194560" cy="411480"/>
          </a:xfrm>
          <a:prstGeom prst="rect">
            <a:avLst/>
          </a:prstGeom>
          <a:noFill/>
        </p:spPr>
        <p:txBody>
          <a:bodyPr wrap="none">
            <a:spAutoFit/>
          </a:bodyPr>
          <a:lstStyle/>
          <a:p>
            <a:pPr>
              <a:defRPr sz="950">
                <a:solidFill>
                  <a:srgbClr val="475569"/>
                </a:solidFill>
                <a:latin typeface="Arial"/>
              </a:defRPr>
            </a:pPr>
            <a:r>
              <a:t>Retrieval Precision  (Top-4 Context Chunks)</a:t>
            </a:r>
          </a:p>
        </p:txBody>
      </p:sp>
      <p:sp>
        <p:nvSpPr>
          <p:cNvPr id="9" name="Rounded Rectangle 8"/>
          <p:cNvSpPr/>
          <p:nvPr/>
        </p:nvSpPr>
        <p:spPr>
          <a:xfrm>
            <a:off x="3483864" y="1554480"/>
            <a:ext cx="24688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21024" y="1645920"/>
            <a:ext cx="2194560" cy="457200"/>
          </a:xfrm>
          <a:prstGeom prst="rect">
            <a:avLst/>
          </a:prstGeom>
          <a:noFill/>
        </p:spPr>
        <p:txBody>
          <a:bodyPr wrap="none">
            <a:spAutoFit/>
          </a:bodyPr>
          <a:lstStyle/>
          <a:p>
            <a:pPr>
              <a:defRPr sz="2200" b="1">
                <a:solidFill>
                  <a:srgbClr val="2563EB"/>
                </a:solidFill>
                <a:latin typeface="Arial"/>
              </a:defRPr>
            </a:pPr>
            <a:r>
              <a:t>100%</a:t>
            </a:r>
          </a:p>
        </p:txBody>
      </p:sp>
      <p:sp>
        <p:nvSpPr>
          <p:cNvPr id="11" name="TextBox 10"/>
          <p:cNvSpPr txBox="1"/>
          <p:nvPr/>
        </p:nvSpPr>
        <p:spPr>
          <a:xfrm>
            <a:off x="3621024" y="2057400"/>
            <a:ext cx="2194560" cy="411480"/>
          </a:xfrm>
          <a:prstGeom prst="rect">
            <a:avLst/>
          </a:prstGeom>
          <a:noFill/>
        </p:spPr>
        <p:txBody>
          <a:bodyPr wrap="none">
            <a:spAutoFit/>
          </a:bodyPr>
          <a:lstStyle/>
          <a:p>
            <a:pPr>
              <a:defRPr sz="950">
                <a:solidFill>
                  <a:srgbClr val="475569"/>
                </a:solidFill>
                <a:latin typeface="Arial"/>
              </a:defRPr>
            </a:pPr>
            <a:r>
              <a:t>Citation Accuracy  (Page Verification Rate)</a:t>
            </a:r>
          </a:p>
        </p:txBody>
      </p:sp>
      <p:sp>
        <p:nvSpPr>
          <p:cNvPr id="12" name="Rounded Rectangle 11"/>
          <p:cNvSpPr/>
          <p:nvPr/>
        </p:nvSpPr>
        <p:spPr>
          <a:xfrm>
            <a:off x="6236208" y="1554480"/>
            <a:ext cx="24688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645920"/>
            <a:ext cx="2194560" cy="457200"/>
          </a:xfrm>
          <a:prstGeom prst="rect">
            <a:avLst/>
          </a:prstGeom>
          <a:noFill/>
        </p:spPr>
        <p:txBody>
          <a:bodyPr wrap="none">
            <a:spAutoFit/>
          </a:bodyPr>
          <a:lstStyle/>
          <a:p>
            <a:pPr>
              <a:defRPr sz="2200" b="1">
                <a:solidFill>
                  <a:srgbClr val="2563EB"/>
                </a:solidFill>
                <a:latin typeface="Arial"/>
              </a:defRPr>
            </a:pPr>
            <a:r>
              <a:t>0.0%</a:t>
            </a:r>
          </a:p>
        </p:txBody>
      </p:sp>
      <p:sp>
        <p:nvSpPr>
          <p:cNvPr id="14" name="TextBox 13"/>
          <p:cNvSpPr txBox="1"/>
          <p:nvPr/>
        </p:nvSpPr>
        <p:spPr>
          <a:xfrm>
            <a:off x="6373368" y="2057400"/>
            <a:ext cx="2194560" cy="411480"/>
          </a:xfrm>
          <a:prstGeom prst="rect">
            <a:avLst/>
          </a:prstGeom>
          <a:noFill/>
        </p:spPr>
        <p:txBody>
          <a:bodyPr wrap="none">
            <a:spAutoFit/>
          </a:bodyPr>
          <a:lstStyle/>
          <a:p>
            <a:pPr>
              <a:defRPr sz="950">
                <a:solidFill>
                  <a:srgbClr val="475569"/>
                </a:solidFill>
                <a:latin typeface="Arial"/>
              </a:defRPr>
            </a:pPr>
            <a:r>
              <a:t>Hallucination Rate  (Negative Query Rejection)</a:t>
            </a:r>
          </a:p>
        </p:txBody>
      </p:sp>
      <p:sp>
        <p:nvSpPr>
          <p:cNvPr id="15" name="Rounded Rectangle 14"/>
          <p:cNvSpPr/>
          <p:nvPr/>
        </p:nvSpPr>
        <p:spPr>
          <a:xfrm>
            <a:off x="8988552" y="1554480"/>
            <a:ext cx="24688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25712" y="1645920"/>
            <a:ext cx="2194560" cy="457200"/>
          </a:xfrm>
          <a:prstGeom prst="rect">
            <a:avLst/>
          </a:prstGeom>
          <a:noFill/>
        </p:spPr>
        <p:txBody>
          <a:bodyPr wrap="none">
            <a:spAutoFit/>
          </a:bodyPr>
          <a:lstStyle/>
          <a:p>
            <a:pPr>
              <a:defRPr sz="2200" b="1">
                <a:solidFill>
                  <a:srgbClr val="2563EB"/>
                </a:solidFill>
                <a:latin typeface="Arial"/>
              </a:defRPr>
            </a:pPr>
            <a:r>
              <a:t>1.2s</a:t>
            </a:r>
          </a:p>
        </p:txBody>
      </p:sp>
      <p:sp>
        <p:nvSpPr>
          <p:cNvPr id="17" name="TextBox 16"/>
          <p:cNvSpPr txBox="1"/>
          <p:nvPr/>
        </p:nvSpPr>
        <p:spPr>
          <a:xfrm>
            <a:off x="9125712" y="2057400"/>
            <a:ext cx="2194560" cy="411480"/>
          </a:xfrm>
          <a:prstGeom prst="rect">
            <a:avLst/>
          </a:prstGeom>
          <a:noFill/>
        </p:spPr>
        <p:txBody>
          <a:bodyPr wrap="none">
            <a:spAutoFit/>
          </a:bodyPr>
          <a:lstStyle/>
          <a:p>
            <a:pPr>
              <a:defRPr sz="950">
                <a:solidFill>
                  <a:srgbClr val="475569"/>
                </a:solidFill>
                <a:latin typeface="Arial"/>
              </a:defRPr>
            </a:pPr>
            <a:r>
              <a:t>End-to-End Latency  (Groq LPU Inference)</a:t>
            </a:r>
          </a:p>
        </p:txBody>
      </p:sp>
      <p:graphicFrame>
        <p:nvGraphicFramePr>
          <p:cNvPr id="18" name="Table 17"/>
          <p:cNvGraphicFramePr>
            <a:graphicFrameLocks noGrp="1"/>
          </p:cNvGraphicFramePr>
          <p:nvPr/>
        </p:nvGraphicFramePr>
        <p:xfrm>
          <a:off x="731520" y="2834640"/>
          <a:ext cx="10728655" cy="347472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36015">
                  <a:extLst>
                    <a:ext uri="{9D8B030D-6E8A-4147-A177-3AD203B41FA5}">
                      <a16:colId xmlns:a16="http://schemas.microsoft.com/office/drawing/2014/main" val="20005"/>
                    </a:ext>
                  </a:extLst>
                </a:gridCol>
              </a:tblGrid>
              <a:tr h="579120">
                <a:tc>
                  <a:txBody>
                    <a:bodyPr/>
                    <a:lstStyle/>
                    <a:p>
                      <a:pPr algn="ctr">
                        <a:defRPr sz="1000" b="1">
                          <a:solidFill>
                            <a:srgbClr val="FFFFFF"/>
                          </a:solidFill>
                          <a:latin typeface="Arial"/>
                        </a:defRPr>
                      </a:pPr>
                      <a:r>
                        <a:t>Test ID</a:t>
                      </a:r>
                    </a:p>
                  </a:txBody>
                  <a:tcPr>
                    <a:solidFill>
                      <a:srgbClr val="1A237E"/>
                    </a:solidFill>
                  </a:tcPr>
                </a:tc>
                <a:tc>
                  <a:txBody>
                    <a:bodyPr/>
                    <a:lstStyle/>
                    <a:p>
                      <a:pPr algn="l">
                        <a:defRPr sz="1000" b="1">
                          <a:solidFill>
                            <a:srgbClr val="FFFFFF"/>
                          </a:solidFill>
                          <a:latin typeface="Arial"/>
                        </a:defRPr>
                      </a:pPr>
                      <a:r>
                        <a:t>Domain Category</a:t>
                      </a:r>
                    </a:p>
                  </a:txBody>
                  <a:tcPr>
                    <a:solidFill>
                      <a:srgbClr val="1A237E"/>
                    </a:solidFill>
                  </a:tcPr>
                </a:tc>
                <a:tc>
                  <a:txBody>
                    <a:bodyPr/>
                    <a:lstStyle/>
                    <a:p>
                      <a:pPr algn="l">
                        <a:defRPr sz="1000" b="1">
                          <a:solidFill>
                            <a:srgbClr val="FFFFFF"/>
                          </a:solidFill>
                          <a:latin typeface="Arial"/>
                        </a:defRPr>
                      </a:pPr>
                      <a:r>
                        <a:t>Test Query</a:t>
                      </a:r>
                    </a:p>
                  </a:txBody>
                  <a:tcPr>
                    <a:solidFill>
                      <a:srgbClr val="1A237E"/>
                    </a:solidFill>
                  </a:tcPr>
                </a:tc>
                <a:tc>
                  <a:txBody>
                    <a:bodyPr/>
                    <a:lstStyle/>
                    <a:p>
                      <a:pPr algn="l">
                        <a:defRPr sz="1000" b="1">
                          <a:solidFill>
                            <a:srgbClr val="FFFFFF"/>
                          </a:solidFill>
                          <a:latin typeface="Arial"/>
                        </a:defRPr>
                      </a:pPr>
                      <a:r>
                        <a:t>Ground Truth Output</a:t>
                      </a:r>
                    </a:p>
                  </a:txBody>
                  <a:tcPr>
                    <a:solidFill>
                      <a:srgbClr val="1A237E"/>
                    </a:solidFill>
                  </a:tcPr>
                </a:tc>
                <a:tc>
                  <a:txBody>
                    <a:bodyPr/>
                    <a:lstStyle/>
                    <a:p>
                      <a:pPr algn="ctr">
                        <a:defRPr sz="1000" b="1">
                          <a:solidFill>
                            <a:srgbClr val="FFFFFF"/>
                          </a:solidFill>
                          <a:latin typeface="Arial"/>
                        </a:defRPr>
                      </a:pPr>
                      <a:r>
                        <a:t>Citation</a:t>
                      </a:r>
                    </a:p>
                  </a:txBody>
                  <a:tcPr>
                    <a:solidFill>
                      <a:srgbClr val="1A237E"/>
                    </a:solidFill>
                  </a:tcPr>
                </a:tc>
                <a:tc>
                  <a:txBody>
                    <a:bodyPr/>
                    <a:lstStyle/>
                    <a:p>
                      <a:pPr algn="ctr">
                        <a:defRPr sz="1000" b="1">
                          <a:solidFill>
                            <a:srgbClr val="FFFFFF"/>
                          </a:solidFill>
                          <a:latin typeface="Arial"/>
                        </a:defRPr>
                      </a:pPr>
                      <a:r>
                        <a:t>Status</a:t>
                      </a:r>
                    </a:p>
                  </a:txBody>
                  <a:tcPr>
                    <a:solidFill>
                      <a:srgbClr val="1A237E"/>
                    </a:solidFill>
                  </a:tcPr>
                </a:tc>
                <a:extLst>
                  <a:ext uri="{0D108BD9-81ED-4DB2-BD59-A6C34878D82A}">
                    <a16:rowId xmlns:a16="http://schemas.microsoft.com/office/drawing/2014/main" val="10000"/>
                  </a:ext>
                </a:extLst>
              </a:tr>
              <a:tr h="579120">
                <a:tc>
                  <a:txBody>
                    <a:bodyPr/>
                    <a:lstStyle/>
                    <a:p>
                      <a:pPr algn="ctr">
                        <a:defRPr sz="950">
                          <a:solidFill>
                            <a:srgbClr val="0F172A"/>
                          </a:solidFill>
                          <a:latin typeface="Arial"/>
                        </a:defRPr>
                      </a:pPr>
                      <a:r>
                        <a:t>TC-01</a:t>
                      </a:r>
                    </a:p>
                  </a:txBody>
                  <a:tcPr>
                    <a:solidFill>
                      <a:srgbClr val="FFFFFF"/>
                    </a:solidFill>
                  </a:tcPr>
                </a:tc>
                <a:tc>
                  <a:txBody>
                    <a:bodyPr/>
                    <a:lstStyle/>
                    <a:p>
                      <a:pPr>
                        <a:defRPr sz="950">
                          <a:solidFill>
                            <a:srgbClr val="0F172A"/>
                          </a:solidFill>
                          <a:latin typeface="Arial"/>
                        </a:defRPr>
                      </a:pPr>
                      <a:r>
                        <a:t>Component Ports</a:t>
                      </a:r>
                    </a:p>
                  </a:txBody>
                  <a:tcPr>
                    <a:solidFill>
                      <a:srgbClr val="FFFFFF"/>
                    </a:solidFill>
                  </a:tcPr>
                </a:tc>
                <a:tc>
                  <a:txBody>
                    <a:bodyPr/>
                    <a:lstStyle/>
                    <a:p>
                      <a:pPr>
                        <a:defRPr sz="950">
                          <a:solidFill>
                            <a:srgbClr val="0F172A"/>
                          </a:solidFill>
                          <a:latin typeface="Arial"/>
                        </a:defRPr>
                      </a:pPr>
                      <a:r>
                        <a:t>What are the ports of the ACC_Controller SWC?</a:t>
                      </a:r>
                    </a:p>
                  </a:txBody>
                  <a:tcPr>
                    <a:solidFill>
                      <a:srgbClr val="FFFFFF"/>
                    </a:solidFill>
                  </a:tcPr>
                </a:tc>
                <a:tc>
                  <a:txBody>
                    <a:bodyPr/>
                    <a:lstStyle/>
                    <a:p>
                      <a:pPr>
                        <a:defRPr sz="950">
                          <a:solidFill>
                            <a:srgbClr val="0F172A"/>
                          </a:solidFill>
                          <a:latin typeface="Arial"/>
                        </a:defRPr>
                      </a:pPr>
                      <a:r>
                        <a:t>RadarData_Rx, Speedometer_Rx, ThrottleRequest_Tx, BrakeRequest_Tx</a:t>
                      </a:r>
                    </a:p>
                  </a:txBody>
                  <a:tcPr>
                    <a:solidFill>
                      <a:srgbClr val="FFFFFF"/>
                    </a:solidFill>
                  </a:tcPr>
                </a:tc>
                <a:tc>
                  <a:txBody>
                    <a:bodyPr/>
                    <a:lstStyle/>
                    <a:p>
                      <a:pPr algn="ctr">
                        <a:defRPr sz="950">
                          <a:solidFill>
                            <a:srgbClr val="0F172A"/>
                          </a:solidFill>
                          <a:latin typeface="Arial"/>
                        </a:defRPr>
                      </a:pPr>
                      <a:r>
                        <a:t>Page 3</a:t>
                      </a:r>
                    </a:p>
                  </a:txBody>
                  <a:tcPr>
                    <a:solidFill>
                      <a:srgbClr val="FFFFFF"/>
                    </a:solidFill>
                  </a:tcPr>
                </a:tc>
                <a:tc>
                  <a:txBody>
                    <a:bodyPr/>
                    <a:lstStyle/>
                    <a:p>
                      <a:pPr algn="ctr">
                        <a:defRPr sz="950" b="1">
                          <a:solidFill>
                            <a:srgbClr val="166534"/>
                          </a:solidFill>
                          <a:latin typeface="Arial"/>
                        </a:defRPr>
                      </a:pPr>
                      <a:r>
                        <a:t>PASS</a:t>
                      </a:r>
                    </a:p>
                  </a:txBody>
                  <a:tcPr>
                    <a:solidFill>
                      <a:srgbClr val="FFFFFF"/>
                    </a:solidFill>
                  </a:tcPr>
                </a:tc>
                <a:extLst>
                  <a:ext uri="{0D108BD9-81ED-4DB2-BD59-A6C34878D82A}">
                    <a16:rowId xmlns:a16="http://schemas.microsoft.com/office/drawing/2014/main" val="10001"/>
                  </a:ext>
                </a:extLst>
              </a:tr>
              <a:tr h="579120">
                <a:tc>
                  <a:txBody>
                    <a:bodyPr/>
                    <a:lstStyle/>
                    <a:p>
                      <a:pPr algn="ctr">
                        <a:defRPr sz="950">
                          <a:solidFill>
                            <a:srgbClr val="0F172A"/>
                          </a:solidFill>
                          <a:latin typeface="Arial"/>
                        </a:defRPr>
                      </a:pPr>
                      <a:r>
                        <a:t>TC-02</a:t>
                      </a:r>
                    </a:p>
                  </a:txBody>
                  <a:tcPr>
                    <a:solidFill>
                      <a:srgbClr val="F1F5F9"/>
                    </a:solidFill>
                  </a:tcPr>
                </a:tc>
                <a:tc>
                  <a:txBody>
                    <a:bodyPr/>
                    <a:lstStyle/>
                    <a:p>
                      <a:pPr>
                        <a:defRPr sz="950">
                          <a:solidFill>
                            <a:srgbClr val="0F172A"/>
                          </a:solidFill>
                          <a:latin typeface="Arial"/>
                        </a:defRPr>
                      </a:pPr>
                      <a:r>
                        <a:t>Functional Safety</a:t>
                      </a:r>
                    </a:p>
                  </a:txBody>
                  <a:tcPr>
                    <a:solidFill>
                      <a:srgbClr val="F1F5F9"/>
                    </a:solidFill>
                  </a:tcPr>
                </a:tc>
                <a:tc>
                  <a:txBody>
                    <a:bodyPr/>
                    <a:lstStyle/>
                    <a:p>
                      <a:pPr>
                        <a:defRPr sz="950">
                          <a:solidFill>
                            <a:srgbClr val="0F172A"/>
                          </a:solidFill>
                          <a:latin typeface="Arial"/>
                        </a:defRPr>
                      </a:pPr>
                      <a:r>
                        <a:t>What is the ASIL rating &amp; protection profile?</a:t>
                      </a:r>
                    </a:p>
                  </a:txBody>
                  <a:tcPr>
                    <a:solidFill>
                      <a:srgbClr val="F1F5F9"/>
                    </a:solidFill>
                  </a:tcPr>
                </a:tc>
                <a:tc>
                  <a:txBody>
                    <a:bodyPr/>
                    <a:lstStyle/>
                    <a:p>
                      <a:pPr>
                        <a:defRPr sz="950">
                          <a:solidFill>
                            <a:srgbClr val="0F172A"/>
                          </a:solidFill>
                          <a:latin typeface="Arial"/>
                        </a:defRPr>
                      </a:pPr>
                      <a:r>
                        <a:t>ASIL D for unintended acceleration; E2E Profile 2 on CAN bus</a:t>
                      </a:r>
                    </a:p>
                  </a:txBody>
                  <a:tcPr>
                    <a:solidFill>
                      <a:srgbClr val="F1F5F9"/>
                    </a:solidFill>
                  </a:tcPr>
                </a:tc>
                <a:tc>
                  <a:txBody>
                    <a:bodyPr/>
                    <a:lstStyle/>
                    <a:p>
                      <a:pPr algn="ctr">
                        <a:defRPr sz="950">
                          <a:solidFill>
                            <a:srgbClr val="0F172A"/>
                          </a:solidFill>
                          <a:latin typeface="Arial"/>
                        </a:defRPr>
                      </a:pPr>
                      <a:r>
                        <a:t>Page 5</a:t>
                      </a:r>
                    </a:p>
                  </a:txBody>
                  <a:tcPr>
                    <a:solidFill>
                      <a:srgbClr val="F1F5F9"/>
                    </a:solidFill>
                  </a:tcPr>
                </a:tc>
                <a:tc>
                  <a:txBody>
                    <a:bodyPr/>
                    <a:lstStyle/>
                    <a:p>
                      <a:pPr algn="ctr">
                        <a:defRPr sz="950" b="1">
                          <a:solidFill>
                            <a:srgbClr val="166534"/>
                          </a:solidFill>
                          <a:latin typeface="Arial"/>
                        </a:defRPr>
                      </a:pPr>
                      <a:r>
                        <a:t>PASS</a:t>
                      </a:r>
                    </a:p>
                  </a:txBody>
                  <a:tcPr>
                    <a:solidFill>
                      <a:srgbClr val="F1F5F9"/>
                    </a:solidFill>
                  </a:tcPr>
                </a:tc>
                <a:extLst>
                  <a:ext uri="{0D108BD9-81ED-4DB2-BD59-A6C34878D82A}">
                    <a16:rowId xmlns:a16="http://schemas.microsoft.com/office/drawing/2014/main" val="10002"/>
                  </a:ext>
                </a:extLst>
              </a:tr>
              <a:tr h="579120">
                <a:tc>
                  <a:txBody>
                    <a:bodyPr/>
                    <a:lstStyle/>
                    <a:p>
                      <a:pPr algn="ctr">
                        <a:defRPr sz="950">
                          <a:solidFill>
                            <a:srgbClr val="0F172A"/>
                          </a:solidFill>
                          <a:latin typeface="Arial"/>
                        </a:defRPr>
                      </a:pPr>
                      <a:r>
                        <a:t>TC-03</a:t>
                      </a:r>
                    </a:p>
                  </a:txBody>
                  <a:tcPr>
                    <a:solidFill>
                      <a:srgbClr val="FFFFFF"/>
                    </a:solidFill>
                  </a:tcPr>
                </a:tc>
                <a:tc>
                  <a:txBody>
                    <a:bodyPr/>
                    <a:lstStyle/>
                    <a:p>
                      <a:pPr>
                        <a:defRPr sz="950">
                          <a:solidFill>
                            <a:srgbClr val="0F172A"/>
                          </a:solidFill>
                          <a:latin typeface="Arial"/>
                        </a:defRPr>
                      </a:pPr>
                      <a:r>
                        <a:t>Cybersecurity</a:t>
                      </a:r>
                    </a:p>
                  </a:txBody>
                  <a:tcPr>
                    <a:solidFill>
                      <a:srgbClr val="FFFFFF"/>
                    </a:solidFill>
                  </a:tcPr>
                </a:tc>
                <a:tc>
                  <a:txBody>
                    <a:bodyPr/>
                    <a:lstStyle/>
                    <a:p>
                      <a:pPr>
                        <a:defRPr sz="950">
                          <a:solidFill>
                            <a:srgbClr val="0F172A"/>
                          </a:solidFill>
                          <a:latin typeface="Arial"/>
                        </a:defRPr>
                      </a:pPr>
                      <a:r>
                        <a:t>How is BrakeRequest protected against spoofing?</a:t>
                      </a:r>
                    </a:p>
                  </a:txBody>
                  <a:tcPr>
                    <a:solidFill>
                      <a:srgbClr val="FFFFFF"/>
                    </a:solidFill>
                  </a:tcPr>
                </a:tc>
                <a:tc>
                  <a:txBody>
                    <a:bodyPr/>
                    <a:lstStyle/>
                    <a:p>
                      <a:pPr>
                        <a:defRPr sz="950">
                          <a:solidFill>
                            <a:srgbClr val="0F172A"/>
                          </a:solidFill>
                          <a:latin typeface="Arial"/>
                        </a:defRPr>
                      </a:pPr>
                      <a:r>
                        <a:t>SecOC with 64-bit Freshness Value and 24-bit truncated CMAC</a:t>
                      </a:r>
                    </a:p>
                  </a:txBody>
                  <a:tcPr>
                    <a:solidFill>
                      <a:srgbClr val="FFFFFF"/>
                    </a:solidFill>
                  </a:tcPr>
                </a:tc>
                <a:tc>
                  <a:txBody>
                    <a:bodyPr/>
                    <a:lstStyle/>
                    <a:p>
                      <a:pPr algn="ctr">
                        <a:defRPr sz="950">
                          <a:solidFill>
                            <a:srgbClr val="0F172A"/>
                          </a:solidFill>
                          <a:latin typeface="Arial"/>
                        </a:defRPr>
                      </a:pPr>
                      <a:r>
                        <a:t>Page 5</a:t>
                      </a:r>
                    </a:p>
                  </a:txBody>
                  <a:tcPr>
                    <a:solidFill>
                      <a:srgbClr val="FFFFFF"/>
                    </a:solidFill>
                  </a:tcPr>
                </a:tc>
                <a:tc>
                  <a:txBody>
                    <a:bodyPr/>
                    <a:lstStyle/>
                    <a:p>
                      <a:pPr algn="ctr">
                        <a:defRPr sz="950" b="1">
                          <a:solidFill>
                            <a:srgbClr val="166534"/>
                          </a:solidFill>
                          <a:latin typeface="Arial"/>
                        </a:defRPr>
                      </a:pPr>
                      <a:r>
                        <a:t>PASS</a:t>
                      </a:r>
                    </a:p>
                  </a:txBody>
                  <a:tcPr>
                    <a:solidFill>
                      <a:srgbClr val="FFFFFF"/>
                    </a:solidFill>
                  </a:tcPr>
                </a:tc>
                <a:extLst>
                  <a:ext uri="{0D108BD9-81ED-4DB2-BD59-A6C34878D82A}">
                    <a16:rowId xmlns:a16="http://schemas.microsoft.com/office/drawing/2014/main" val="10003"/>
                  </a:ext>
                </a:extLst>
              </a:tr>
              <a:tr h="579120">
                <a:tc>
                  <a:txBody>
                    <a:bodyPr/>
                    <a:lstStyle/>
                    <a:p>
                      <a:pPr algn="ctr">
                        <a:defRPr sz="950">
                          <a:solidFill>
                            <a:srgbClr val="0F172A"/>
                          </a:solidFill>
                          <a:latin typeface="Arial"/>
                        </a:defRPr>
                      </a:pPr>
                      <a:r>
                        <a:t>TC-04</a:t>
                      </a:r>
                    </a:p>
                  </a:txBody>
                  <a:tcPr>
                    <a:solidFill>
                      <a:srgbClr val="F1F5F9"/>
                    </a:solidFill>
                  </a:tcPr>
                </a:tc>
                <a:tc>
                  <a:txBody>
                    <a:bodyPr/>
                    <a:lstStyle/>
                    <a:p>
                      <a:pPr>
                        <a:defRPr sz="950">
                          <a:solidFill>
                            <a:srgbClr val="0F172A"/>
                          </a:solidFill>
                          <a:latin typeface="Arial"/>
                        </a:defRPr>
                      </a:pPr>
                      <a:r>
                        <a:t>BSW Diagnostics</a:t>
                      </a:r>
                    </a:p>
                  </a:txBody>
                  <a:tcPr>
                    <a:solidFill>
                      <a:srgbClr val="F1F5F9"/>
                    </a:solidFill>
                  </a:tcPr>
                </a:tc>
                <a:tc>
                  <a:txBody>
                    <a:bodyPr/>
                    <a:lstStyle/>
                    <a:p>
                      <a:pPr>
                        <a:defRPr sz="950">
                          <a:solidFill>
                            <a:srgbClr val="0F172A"/>
                          </a:solidFill>
                          <a:latin typeface="Arial"/>
                        </a:defRPr>
                      </a:pPr>
                      <a:r>
                        <a:t>Which UDS diagnostic services are handled by DCM?</a:t>
                      </a:r>
                    </a:p>
                  </a:txBody>
                  <a:tcPr>
                    <a:solidFill>
                      <a:srgbClr val="F1F5F9"/>
                    </a:solidFill>
                  </a:tcPr>
                </a:tc>
                <a:tc>
                  <a:txBody>
                    <a:bodyPr/>
                    <a:lstStyle/>
                    <a:p>
                      <a:pPr>
                        <a:defRPr sz="950">
                          <a:solidFill>
                            <a:srgbClr val="0F172A"/>
                          </a:solidFill>
                          <a:latin typeface="Arial"/>
                        </a:defRPr>
                      </a:pPr>
                      <a:r>
                        <a:t>Service 0x22 (ReadData), 0x19 (ReadDTC), 0x27 (SecurityAccess)</a:t>
                      </a:r>
                    </a:p>
                  </a:txBody>
                  <a:tcPr>
                    <a:solidFill>
                      <a:srgbClr val="F1F5F9"/>
                    </a:solidFill>
                  </a:tcPr>
                </a:tc>
                <a:tc>
                  <a:txBody>
                    <a:bodyPr/>
                    <a:lstStyle/>
                    <a:p>
                      <a:pPr algn="ctr">
                        <a:defRPr sz="950">
                          <a:solidFill>
                            <a:srgbClr val="0F172A"/>
                          </a:solidFill>
                          <a:latin typeface="Arial"/>
                        </a:defRPr>
                      </a:pPr>
                      <a:r>
                        <a:t>Page 4</a:t>
                      </a:r>
                    </a:p>
                  </a:txBody>
                  <a:tcPr>
                    <a:solidFill>
                      <a:srgbClr val="F1F5F9"/>
                    </a:solidFill>
                  </a:tcPr>
                </a:tc>
                <a:tc>
                  <a:txBody>
                    <a:bodyPr/>
                    <a:lstStyle/>
                    <a:p>
                      <a:pPr algn="ctr">
                        <a:defRPr sz="950" b="1">
                          <a:solidFill>
                            <a:srgbClr val="166534"/>
                          </a:solidFill>
                          <a:latin typeface="Arial"/>
                        </a:defRPr>
                      </a:pPr>
                      <a:r>
                        <a:t>PASS</a:t>
                      </a:r>
                    </a:p>
                  </a:txBody>
                  <a:tcPr>
                    <a:solidFill>
                      <a:srgbClr val="F1F5F9"/>
                    </a:solidFill>
                  </a:tcPr>
                </a:tc>
                <a:extLst>
                  <a:ext uri="{0D108BD9-81ED-4DB2-BD59-A6C34878D82A}">
                    <a16:rowId xmlns:a16="http://schemas.microsoft.com/office/drawing/2014/main" val="10004"/>
                  </a:ext>
                </a:extLst>
              </a:tr>
              <a:tr h="579120">
                <a:tc>
                  <a:txBody>
                    <a:bodyPr/>
                    <a:lstStyle/>
                    <a:p>
                      <a:pPr algn="ctr">
                        <a:defRPr sz="950">
                          <a:solidFill>
                            <a:srgbClr val="0F172A"/>
                          </a:solidFill>
                          <a:latin typeface="Arial"/>
                        </a:defRPr>
                      </a:pPr>
                      <a:r>
                        <a:t>TC-05</a:t>
                      </a:r>
                    </a:p>
                  </a:txBody>
                  <a:tcPr>
                    <a:solidFill>
                      <a:srgbClr val="FFFFFF"/>
                    </a:solidFill>
                  </a:tcPr>
                </a:tc>
                <a:tc>
                  <a:txBody>
                    <a:bodyPr/>
                    <a:lstStyle/>
                    <a:p>
                      <a:pPr>
                        <a:defRPr sz="950">
                          <a:solidFill>
                            <a:srgbClr val="0F172A"/>
                          </a:solidFill>
                          <a:latin typeface="Arial"/>
                        </a:defRPr>
                      </a:pPr>
                      <a:r>
                        <a:t>Negative Guardrail</a:t>
                      </a:r>
                    </a:p>
                  </a:txBody>
                  <a:tcPr>
                    <a:solidFill>
                      <a:srgbClr val="FFFFFF"/>
                    </a:solidFill>
                  </a:tcPr>
                </a:tc>
                <a:tc>
                  <a:txBody>
                    <a:bodyPr/>
                    <a:lstStyle/>
                    <a:p>
                      <a:pPr>
                        <a:defRPr sz="950">
                          <a:solidFill>
                            <a:srgbClr val="0F172A"/>
                          </a:solidFill>
                          <a:latin typeface="Arial"/>
                        </a:defRPr>
                      </a:pPr>
                      <a:r>
                        <a:t>What is the battery voltage of the traction motor?</a:t>
                      </a:r>
                    </a:p>
                  </a:txBody>
                  <a:tcPr>
                    <a:solidFill>
                      <a:srgbClr val="FFFFFF"/>
                    </a:solidFill>
                  </a:tcPr>
                </a:tc>
                <a:tc>
                  <a:txBody>
                    <a:bodyPr/>
                    <a:lstStyle/>
                    <a:p>
                      <a:pPr>
                        <a:defRPr sz="950">
                          <a:solidFill>
                            <a:srgbClr val="0F172A"/>
                          </a:solidFill>
                          <a:latin typeface="Arial"/>
                        </a:defRPr>
                      </a:pPr>
                      <a:r>
                        <a:t>Declined: 'Cannot find answer in approved architecture docs'</a:t>
                      </a:r>
                    </a:p>
                  </a:txBody>
                  <a:tcPr>
                    <a:solidFill>
                      <a:srgbClr val="FFFFFF"/>
                    </a:solidFill>
                  </a:tcPr>
                </a:tc>
                <a:tc>
                  <a:txBody>
                    <a:bodyPr/>
                    <a:lstStyle/>
                    <a:p>
                      <a:pPr algn="ctr">
                        <a:defRPr sz="950">
                          <a:solidFill>
                            <a:srgbClr val="0F172A"/>
                          </a:solidFill>
                          <a:latin typeface="Arial"/>
                        </a:defRPr>
                      </a:pPr>
                      <a:r>
                        <a:t>N/A</a:t>
                      </a:r>
                    </a:p>
                  </a:txBody>
                  <a:tcPr>
                    <a:solidFill>
                      <a:srgbClr val="FFFFFF"/>
                    </a:solidFill>
                  </a:tcPr>
                </a:tc>
                <a:tc>
                  <a:txBody>
                    <a:bodyPr/>
                    <a:lstStyle/>
                    <a:p>
                      <a:pPr algn="ctr">
                        <a:defRPr sz="950" b="1">
                          <a:solidFill>
                            <a:srgbClr val="166534"/>
                          </a:solidFill>
                          <a:latin typeface="Arial"/>
                        </a:defRPr>
                      </a:pPr>
                      <a:r>
                        <a:t>PASS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940A2B-717E-74E6-9282-0FCDC2923B28}"/>
              </a:ext>
            </a:extLst>
          </p:cNvPr>
          <p:cNvSpPr txBox="1"/>
          <p:nvPr/>
        </p:nvSpPr>
        <p:spPr>
          <a:xfrm>
            <a:off x="3694176" y="2426208"/>
            <a:ext cx="4376928" cy="1015663"/>
          </a:xfrm>
          <a:prstGeom prst="rect">
            <a:avLst/>
          </a:prstGeom>
          <a:noFill/>
        </p:spPr>
        <p:txBody>
          <a:bodyPr wrap="square" rtlCol="0">
            <a:spAutoFit/>
          </a:bodyPr>
          <a:lstStyle/>
          <a:p>
            <a:r>
              <a:rPr lang="en-IN" sz="60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174029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2055</Words>
  <Application>Microsoft Office PowerPoint</Application>
  <PresentationFormat>Widescreen</PresentationFormat>
  <Paragraphs>172</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Shyambaskar Sriram</cp:lastModifiedBy>
  <cp:revision>5</cp:revision>
  <dcterms:created xsi:type="dcterms:W3CDTF">2013-01-27T09:14:16Z</dcterms:created>
  <dcterms:modified xsi:type="dcterms:W3CDTF">2026-10-14T03:51:56Z</dcterms:modified>
  <cp:category/>
</cp:coreProperties>
</file>